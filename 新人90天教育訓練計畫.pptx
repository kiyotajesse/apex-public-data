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82296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0" b="1" dirty="0">
                <a:solidFill>
                  <a:srgbClr val="FFFFFF">
                    <a:alpha val="1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25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新人教育訓練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88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天成長計畫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 ·  Okuma  ·  射出成型機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3434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  5 人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31720" y="43434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  4 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5806440"/>
            <a:ext cx="10698480" cy="0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教育架構   ·   週行程   ·   甘特圖   ·   輪調排版表   ·   學習護照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FRAMEWORK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天教育架構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017520" cy="329184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3017520" cy="1051560"/>
          </a:xfrm>
          <a:prstGeom prst="roundRect">
            <a:avLst>
              <a:gd name="adj" fmla="val 1217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331720"/>
            <a:ext cx="3017520" cy="274320"/>
          </a:xfrm>
          <a:prstGeom prst="rect">
            <a:avLst/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0F1E33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924812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INTRO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19659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認識公司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697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 ・ Day 1–7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公司簡介、組織與制度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在公司研讀 Brother／Okuma／射出機型錄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職場安全與 5S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型錄小組分享與導師面談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840480" y="1554480"/>
            <a:ext cx="365760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840480" y="1554480"/>
            <a:ext cx="3657600" cy="1051560"/>
          </a:xfrm>
          <a:prstGeom prst="roundRect">
            <a:avLst>
              <a:gd name="adj" fmla="val 12174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0480" y="2331720"/>
            <a:ext cx="3657600" cy="274320"/>
          </a:xfrm>
          <a:prstGeom prst="rect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23360" y="1783080"/>
            <a:ext cx="566928" cy="566928"/>
          </a:xfrm>
          <a:prstGeom prst="ellipse">
            <a:avLst/>
          </a:prstGeom>
          <a:solidFill>
            <a:srgbClr val="0F1E33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5092" y="1924812"/>
            <a:ext cx="283464" cy="28346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754880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FOUNDATION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1965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基礎輪調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4069080" y="2697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2–5 週 ・ Day 8–35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4069080" y="301752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部門輪調：展示中心／服務部／零件倉／業務部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產品基礎課程：機構、控制器、規格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5 週回歸各組專業課程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30 完成部門輪調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680960" y="1554480"/>
            <a:ext cx="388620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680960" y="1554480"/>
            <a:ext cx="3886200" cy="1051560"/>
          </a:xfrm>
          <a:prstGeom prst="roundRect">
            <a:avLst>
              <a:gd name="adj" fmla="val 12174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0" y="2331720"/>
            <a:ext cx="3886200" cy="274320"/>
          </a:xfrm>
          <a:prstGeom prst="rect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1783080"/>
            <a:ext cx="566928" cy="566928"/>
          </a:xfrm>
          <a:prstGeom prst="ellipse">
            <a:avLst/>
          </a:prstGeom>
          <a:solidFill>
            <a:srgbClr val="0F1E33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572" y="1924812"/>
            <a:ext cx="283464" cy="28346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595360" y="17373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PRACTICE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8595360" y="196596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專業實戰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790956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6–12 週 ・ Day 36–90</a:t>
            </a:r>
            <a:endParaRPr 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7909560" y="3017520"/>
            <a:ext cx="3429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業務：隨訪客戶 → 獨立拜訪 → 正式提案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技術：隨師裝機 → 保養實作 → 獨立服務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原廠／進階課程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 結訓成果分享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914400" y="5486400"/>
            <a:ext cx="9966960" cy="0"/>
          </a:xfrm>
          <a:prstGeom prst="line">
            <a:avLst/>
          </a:prstGeom>
          <a:noFill/>
          <a:ln w="25400">
            <a:solidFill>
              <a:srgbClr val="E1E6EC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2296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114300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7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完成公司認識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402336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34340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30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完成部門輪調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786384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18388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60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完成隨訪／保養實作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1014984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1046988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90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結訓成果分享</a:t>
            </a:r>
            <a:endParaRPr lang="en-US" sz="1050" dirty="0"/>
          </a:p>
        </p:txBody>
      </p:sp>
      <p:sp>
        <p:nvSpPr>
          <p:cNvPr id="40" name="Text 3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41" name="Text 36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· COMMON CURRICULUM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週共同課程（業務 + 技術，在公司內）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270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663440"/>
                <a:gridCol w="46177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日程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上午 09:00–12:00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下午 13:30–17:30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1（一）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報到、公司簡介、組織架構、經營理念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人事制度、差勤、資訊系統帳號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2（二）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工廠／展示中心導覽、職場安全與 5S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Brother 型錄研讀：SPEEDIO 系列、攻牙機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3（三）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Okuma 型錄研讀：車床、複合機、OSP 控制器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射出機型錄研讀：油壓／電動、規格表解讀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4（四）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客戶產業與應用案例（汽車、3C、醫療、模具）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競品比較與我司優勢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5（五）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型錄總複習與小組報告（每人 5 分鐘）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導師面談 ・ 分流說明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40680"/>
            <a:ext cx="10927080" cy="731520"/>
          </a:xfrm>
          <a:prstGeom prst="roundRect">
            <a:avLst>
              <a:gd name="adj" fmla="val 17500"/>
            </a:avLst>
          </a:prstGeom>
          <a:solidFill>
            <a:srgbClr val="FDEEE3"/>
          </a:solidFill>
          <a:ln w="9525">
            <a:solidFill>
              <a:srgbClr val="FD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5541264"/>
            <a:ext cx="530352" cy="530352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5673852"/>
            <a:ext cx="265176" cy="26517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544068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週重點 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全員以型錄為主教材，不外出；每日於學習護照記錄心得，週五導師簽章。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2–12 · SCHEDULE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2–12 週行程（業務組 ／ 技術組）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270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4640580"/>
                <a:gridCol w="464058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業務組（5 人）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技術組（4 人）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輪調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展示中心：Demo 流程、來訪接待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技術服務部：工具儀器、服務單流程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輪調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技術服務部：隨技師保養、售後流程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零件倉：料號系統、備品管理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輪調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零件倉／內勤：報價、訂單、交期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業務部／展示中心：客戶需求、Demo 準備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市場與客戶分析、CRM 系統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Brother C00／Okuma OSP 控制器操作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提案與報價：訪談、選型、合約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安裝與調校：水平、精度、試車、驗收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隨訪客戶 ①（Brother／Okuma 客戶）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保養實作 ①（Brother／Okuma 定期保養）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隨訪客戶 ②（射出機客戶）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保養實作 ②（射出機保養）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原廠銷售課程、射出機應用選型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原廠技術課程、射出機參數調整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 ①：陌生開發與客戶回訪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故障排除：警報判讀、電控與油壓診斷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 ②：商機追蹤、正式提案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獨立服務：保養與簡易維修案件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成果簡報、商機盤點 ・ 主管面談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案例分享 ・ 主管面談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80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備註：W7–W8 隨訪／現場作業一律隨資深同仁進行；W10 起獨立作業需事前與導師確認。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GANTT CHART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天甘特圖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589520" y="85039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3640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共同活動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8641080" y="85039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796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692640" y="85039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93952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744200" y="850392"/>
            <a:ext cx="182880" cy="182880"/>
          </a:xfrm>
          <a:prstGeom prst="diamond">
            <a:avLst>
              <a:gd name="adj" fmla="val 25000"/>
            </a:avLst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9108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64508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64508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45736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45736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26964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26964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08192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08192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89420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89420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70648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70648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51876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51876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W8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833104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33104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14332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514332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195560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195560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876788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876788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" y="1956816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195681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325880" y="19568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公司認識 ・ 型錄研讀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419856" y="2020824"/>
            <a:ext cx="608076" cy="201168"/>
          </a:xfrm>
          <a:prstGeom prst="roundRect">
            <a:avLst>
              <a:gd name="adj" fmla="val 3636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77240" y="228600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1325880" y="2286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部門輪調（4 站）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101084" y="2350008"/>
            <a:ext cx="1970532" cy="201168"/>
          </a:xfrm>
          <a:prstGeom prst="roundRect">
            <a:avLst>
              <a:gd name="adj" fmla="val 3636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2615184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77240" y="261518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325880" y="261518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產品基礎課程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101084" y="2679192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777240" y="29443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325880" y="29443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市場分析 ・ 提案報價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144768" y="3008376"/>
            <a:ext cx="1289304" cy="201168"/>
          </a:xfrm>
          <a:prstGeom prst="roundRect">
            <a:avLst>
              <a:gd name="adj" fmla="val 36364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40080" y="3273552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7240" y="327355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325880" y="327355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隨訪客戶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7507224" y="3337560"/>
            <a:ext cx="1289304" cy="201168"/>
          </a:xfrm>
          <a:prstGeom prst="roundRect">
            <a:avLst>
              <a:gd name="adj" fmla="val 36364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777240" y="3602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1325880" y="360273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獨立拜訪 ・ 正式提案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9550908" y="3666744"/>
            <a:ext cx="1289304" cy="201168"/>
          </a:xfrm>
          <a:prstGeom prst="roundRect">
            <a:avLst>
              <a:gd name="adj" fmla="val 36364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40080" y="3931920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7240" y="393192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1325880" y="39319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控制器 ・ 安裝調校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144768" y="3995928"/>
            <a:ext cx="1289304" cy="201168"/>
          </a:xfrm>
          <a:prstGeom prst="roundRect">
            <a:avLst>
              <a:gd name="adj" fmla="val 36364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777240" y="42611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1325880" y="42611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保養實作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7507224" y="4325112"/>
            <a:ext cx="1289304" cy="201168"/>
          </a:xfrm>
          <a:prstGeom prst="roundRect">
            <a:avLst>
              <a:gd name="adj" fmla="val 36364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40080" y="4590288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7240" y="459028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1325880" y="459028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故障排除 ・ 獨立服務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9550908" y="4654296"/>
            <a:ext cx="1289304" cy="201168"/>
          </a:xfrm>
          <a:prstGeom prst="roundRect">
            <a:avLst>
              <a:gd name="adj" fmla="val 36364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68" name="Text 66"/>
          <p:cNvSpPr txBox="1"/>
          <p:nvPr/>
        </p:nvSpPr>
        <p:spPr>
          <a:xfrm>
            <a:off x="777240" y="49194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1325880" y="491947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原廠／進階課程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8869680" y="4983480"/>
            <a:ext cx="608076" cy="201168"/>
          </a:xfrm>
          <a:prstGeom prst="roundRect">
            <a:avLst>
              <a:gd name="adj" fmla="val 3636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640080" y="5248656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77240" y="524865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1325880" y="524865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成果發表 ・ 結訓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10913364" y="5312664"/>
            <a:ext cx="608076" cy="201168"/>
          </a:xfrm>
          <a:prstGeom prst="roundRect">
            <a:avLst>
              <a:gd name="adj" fmla="val 3636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3383280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064508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745736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426964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108192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789420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470648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151876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833104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514332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195560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876788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558016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77240" y="5687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3909060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3497580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7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6633972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6222492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30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8677656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266176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60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11402568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991088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90</a:t>
            </a:r>
            <a:endParaRPr lang="en-US" sz="950" dirty="0"/>
          </a:p>
        </p:txBody>
      </p:sp>
      <p:sp>
        <p:nvSpPr>
          <p:cNvPr id="97" name="Text 9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98" name="Text 96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CROSS-FUNCTIONAL ROTATION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業務／技術輪調排版表（第 2–4 週）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270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91640"/>
                <a:gridCol w="2048256"/>
                <a:gridCol w="2039112"/>
                <a:gridCol w="203911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輪調站別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站別負責人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2 週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3 週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4 週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 展示中心（Demo／操作）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展示中心主管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B1 B2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B3 B4 B5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T3 T4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 技術服務部（保養／裝機）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技術主管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T1 T2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B1 B2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B3 B4 B5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 零件倉／內勤（料號／報價）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倉管／內勤主管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B3 B4 B5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T1 T2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B1 B2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 業務部（隨訪／客戶需求）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業務主管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T3 T4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T3 T4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762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T1 T2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5074920"/>
            <a:ext cx="502920" cy="502920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5200650"/>
            <a:ext cx="251460" cy="2514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029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5 人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56235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分兩組（B1–B2、B3–B5），三週輪完 A、B、C 三站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34340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26280" y="5074920"/>
            <a:ext cx="502920" cy="50292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10" y="520065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66360" y="5029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 4 人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4526280" y="56235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T1–T2 輪 B、C、D 三站；T3–T4 業務部兩週後至展示中心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04672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5074920"/>
            <a:ext cx="502920" cy="502920"/>
          </a:xfrm>
          <a:prstGeom prst="ellipse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5330" y="5200650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69680" y="5029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站別規則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0" y="56235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每站週五由站別負責人於學習護照簽章；週一換站前交上一站心得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21" name="Text 15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PASSPORT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學習護照（每人一本，集滿 8 章結訓）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4343400"/>
          </a:xfrm>
          <a:prstGeom prst="roundRect">
            <a:avLst>
              <a:gd name="adj" fmla="val 2947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63040"/>
            <a:ext cx="5349240" cy="640080"/>
          </a:xfrm>
          <a:prstGeom prst="roundRect">
            <a:avLst>
              <a:gd name="adj" fmla="val 20000"/>
            </a:avLst>
          </a:prstGeom>
          <a:solidFill>
            <a:srgbClr val="E7EFF8"/>
          </a:solidFill>
          <a:ln w="12700">
            <a:solidFill>
              <a:srgbClr val="E7EF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28800"/>
            <a:ext cx="5349240" cy="274320"/>
          </a:xfrm>
          <a:prstGeom prst="rect">
            <a:avLst/>
          </a:prstGeom>
          <a:solidFill>
            <a:srgbClr val="E7EFF8"/>
          </a:solidFill>
          <a:ln w="12700">
            <a:solidFill>
              <a:srgbClr val="E7EF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72768"/>
            <a:ext cx="420624" cy="420624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677924"/>
            <a:ext cx="210312" cy="2103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14630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  ・  8 章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項目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簽章人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1828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日期／簽章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68680" y="232257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868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1371600" y="22860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公司制度與安全教育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228600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人資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892040" y="256032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8680" y="273405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868680" y="2734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26974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三大產品型錄研讀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269748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892040" y="297180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14553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86868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371600" y="3108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部門輪調 3 站完成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023360" y="31089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站別負責人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892040" y="338328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68680" y="355701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29" name="Text 26"/>
          <p:cNvSpPr txBox="1"/>
          <p:nvPr/>
        </p:nvSpPr>
        <p:spPr>
          <a:xfrm>
            <a:off x="86868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1371600" y="35204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隨訪客戶 6 家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023360" y="35204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資深業務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892040" y="379476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396849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86868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1371600" y="39319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模擬提案 1 份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4023360" y="39319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業務主管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4892040" y="420624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68680" y="437997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868680" y="4379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1371600" y="4343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原廠銷售課程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4023360" y="434340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原廠講師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4892040" y="461772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68680" y="479145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86868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45" name="Text 42"/>
          <p:cNvSpPr txBox="1"/>
          <p:nvPr/>
        </p:nvSpPr>
        <p:spPr>
          <a:xfrm>
            <a:off x="1371600" y="47548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獨立拜訪 5 家 ＋ 正式提案 1 份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4023360" y="475488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業務主管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4892040" y="502920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68680" y="520293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5C8A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868680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1371600" y="51663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 結訓發表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4023360" y="51663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4892040" y="544068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217920" y="1463040"/>
            <a:ext cx="5349240" cy="4343400"/>
          </a:xfrm>
          <a:prstGeom prst="roundRect">
            <a:avLst>
              <a:gd name="adj" fmla="val 2947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6217920" y="1463040"/>
            <a:ext cx="5349240" cy="640080"/>
          </a:xfrm>
          <a:prstGeom prst="roundRect">
            <a:avLst>
              <a:gd name="adj" fmla="val 20000"/>
            </a:avLst>
          </a:prstGeom>
          <a:solidFill>
            <a:srgbClr val="FDEEE3"/>
          </a:solidFill>
          <a:ln w="12700">
            <a:solidFill>
              <a:srgbClr val="FDEEE3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217920" y="1828800"/>
            <a:ext cx="5349240" cy="274320"/>
          </a:xfrm>
          <a:prstGeom prst="rect">
            <a:avLst/>
          </a:prstGeom>
          <a:solidFill>
            <a:srgbClr val="FDEEE3"/>
          </a:solidFill>
          <a:ln w="12700">
            <a:solidFill>
              <a:srgbClr val="FDEEE3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400800" y="1572768"/>
            <a:ext cx="420624" cy="420624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5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1677924"/>
            <a:ext cx="210312" cy="210312"/>
          </a:xfrm>
          <a:prstGeom prst="rect">
            <a:avLst/>
          </a:prstGeom>
        </p:spPr>
      </p:pic>
      <p:sp>
        <p:nvSpPr>
          <p:cNvPr id="58" name="Text 54"/>
          <p:cNvSpPr txBox="1"/>
          <p:nvPr/>
        </p:nvSpPr>
        <p:spPr>
          <a:xfrm>
            <a:off x="6949440" y="14630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  ・  8 章</a:t>
            </a:r>
            <a:endParaRPr lang="en-US" sz="1400" dirty="0"/>
          </a:p>
        </p:txBody>
      </p:sp>
      <p:sp>
        <p:nvSpPr>
          <p:cNvPr id="59" name="Text 55"/>
          <p:cNvSpPr txBox="1"/>
          <p:nvPr/>
        </p:nvSpPr>
        <p:spPr>
          <a:xfrm>
            <a:off x="694944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項目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960120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簽章人</a:t>
            </a:r>
            <a:endParaRPr lang="en-US" sz="900" dirty="0"/>
          </a:p>
        </p:txBody>
      </p:sp>
      <p:sp>
        <p:nvSpPr>
          <p:cNvPr id="61" name="Text 57"/>
          <p:cNvSpPr txBox="1"/>
          <p:nvPr/>
        </p:nvSpPr>
        <p:spPr>
          <a:xfrm>
            <a:off x="10469880" y="1828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日期／簽章</a:t>
            </a:r>
            <a:endParaRPr lang="en-US" sz="900" dirty="0"/>
          </a:p>
        </p:txBody>
      </p:sp>
      <p:sp>
        <p:nvSpPr>
          <p:cNvPr id="62" name="Shape 58"/>
          <p:cNvSpPr/>
          <p:nvPr/>
        </p:nvSpPr>
        <p:spPr>
          <a:xfrm>
            <a:off x="6446520" y="232257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63" name="Text 59"/>
          <p:cNvSpPr txBox="1"/>
          <p:nvPr/>
        </p:nvSpPr>
        <p:spPr>
          <a:xfrm>
            <a:off x="644652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64" name="Text 60"/>
          <p:cNvSpPr txBox="1"/>
          <p:nvPr/>
        </p:nvSpPr>
        <p:spPr>
          <a:xfrm>
            <a:off x="6949440" y="22860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公司制度與安全教育</a:t>
            </a:r>
            <a:endParaRPr lang="en-US" sz="1050" dirty="0"/>
          </a:p>
        </p:txBody>
      </p:sp>
      <p:sp>
        <p:nvSpPr>
          <p:cNvPr id="65" name="Text 61"/>
          <p:cNvSpPr txBox="1"/>
          <p:nvPr/>
        </p:nvSpPr>
        <p:spPr>
          <a:xfrm>
            <a:off x="9601200" y="228600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人資</a:t>
            </a:r>
            <a:endParaRPr lang="en-US" sz="950" dirty="0"/>
          </a:p>
        </p:txBody>
      </p:sp>
      <p:sp>
        <p:nvSpPr>
          <p:cNvPr id="66" name="Shape 62"/>
          <p:cNvSpPr/>
          <p:nvPr/>
        </p:nvSpPr>
        <p:spPr>
          <a:xfrm>
            <a:off x="10469880" y="256032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446520" y="273405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68" name="Text 64"/>
          <p:cNvSpPr txBox="1"/>
          <p:nvPr/>
        </p:nvSpPr>
        <p:spPr>
          <a:xfrm>
            <a:off x="6446520" y="2734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6949440" y="26974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三大產品型錄研讀</a:t>
            </a:r>
            <a:endParaRPr lang="en-US" sz="1050" dirty="0"/>
          </a:p>
        </p:txBody>
      </p:sp>
      <p:sp>
        <p:nvSpPr>
          <p:cNvPr id="70" name="Text 66"/>
          <p:cNvSpPr txBox="1"/>
          <p:nvPr/>
        </p:nvSpPr>
        <p:spPr>
          <a:xfrm>
            <a:off x="9601200" y="269748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</a:t>
            </a:r>
            <a:endParaRPr lang="en-US" sz="950" dirty="0"/>
          </a:p>
        </p:txBody>
      </p:sp>
      <p:sp>
        <p:nvSpPr>
          <p:cNvPr id="71" name="Shape 67"/>
          <p:cNvSpPr/>
          <p:nvPr/>
        </p:nvSpPr>
        <p:spPr>
          <a:xfrm>
            <a:off x="10469880" y="297180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6446520" y="314553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73" name="Text 69"/>
          <p:cNvSpPr txBox="1"/>
          <p:nvPr/>
        </p:nvSpPr>
        <p:spPr>
          <a:xfrm>
            <a:off x="644652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74" name="Text 70"/>
          <p:cNvSpPr txBox="1"/>
          <p:nvPr/>
        </p:nvSpPr>
        <p:spPr>
          <a:xfrm>
            <a:off x="6949440" y="3108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部門輪調 3 站完成</a:t>
            </a:r>
            <a:endParaRPr lang="en-US" sz="1050" dirty="0"/>
          </a:p>
        </p:txBody>
      </p:sp>
      <p:sp>
        <p:nvSpPr>
          <p:cNvPr id="75" name="Text 71"/>
          <p:cNvSpPr txBox="1"/>
          <p:nvPr/>
        </p:nvSpPr>
        <p:spPr>
          <a:xfrm>
            <a:off x="9601200" y="31089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站別負責人</a:t>
            </a:r>
            <a:endParaRPr lang="en-US" sz="950" dirty="0"/>
          </a:p>
        </p:txBody>
      </p:sp>
      <p:sp>
        <p:nvSpPr>
          <p:cNvPr id="76" name="Shape 72"/>
          <p:cNvSpPr/>
          <p:nvPr/>
        </p:nvSpPr>
        <p:spPr>
          <a:xfrm>
            <a:off x="10469880" y="338328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6446520" y="355701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78" name="Text 74"/>
          <p:cNvSpPr txBox="1"/>
          <p:nvPr/>
        </p:nvSpPr>
        <p:spPr>
          <a:xfrm>
            <a:off x="64465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79" name="Text 75"/>
          <p:cNvSpPr txBox="1"/>
          <p:nvPr/>
        </p:nvSpPr>
        <p:spPr>
          <a:xfrm>
            <a:off x="6949440" y="35204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隨師裝機 1 台</a:t>
            </a:r>
            <a:endParaRPr lang="en-US" sz="1050" dirty="0"/>
          </a:p>
        </p:txBody>
      </p:sp>
      <p:sp>
        <p:nvSpPr>
          <p:cNvPr id="80" name="Text 76"/>
          <p:cNvSpPr txBox="1"/>
          <p:nvPr/>
        </p:nvSpPr>
        <p:spPr>
          <a:xfrm>
            <a:off x="9601200" y="35204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資深技師</a:t>
            </a:r>
            <a:endParaRPr lang="en-US" sz="950" dirty="0"/>
          </a:p>
        </p:txBody>
      </p:sp>
      <p:sp>
        <p:nvSpPr>
          <p:cNvPr id="81" name="Shape 77"/>
          <p:cNvSpPr/>
          <p:nvPr/>
        </p:nvSpPr>
        <p:spPr>
          <a:xfrm>
            <a:off x="10469880" y="379476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446520" y="396849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83" name="Text 79"/>
          <p:cNvSpPr txBox="1"/>
          <p:nvPr/>
        </p:nvSpPr>
        <p:spPr>
          <a:xfrm>
            <a:off x="644652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84" name="Text 80"/>
          <p:cNvSpPr txBox="1"/>
          <p:nvPr/>
        </p:nvSpPr>
        <p:spPr>
          <a:xfrm>
            <a:off x="6949440" y="39319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保養實作 3 台</a:t>
            </a:r>
            <a:endParaRPr lang="en-US" sz="1050" dirty="0"/>
          </a:p>
        </p:txBody>
      </p:sp>
      <p:sp>
        <p:nvSpPr>
          <p:cNvPr id="85" name="Text 81"/>
          <p:cNvSpPr txBox="1"/>
          <p:nvPr/>
        </p:nvSpPr>
        <p:spPr>
          <a:xfrm>
            <a:off x="9601200" y="39319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資深技師</a:t>
            </a:r>
            <a:endParaRPr lang="en-US" sz="950" dirty="0"/>
          </a:p>
        </p:txBody>
      </p:sp>
      <p:sp>
        <p:nvSpPr>
          <p:cNvPr id="86" name="Shape 82"/>
          <p:cNvSpPr/>
          <p:nvPr/>
        </p:nvSpPr>
        <p:spPr>
          <a:xfrm>
            <a:off x="10469880" y="420624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6446520" y="437997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88" name="Text 84"/>
          <p:cNvSpPr txBox="1"/>
          <p:nvPr/>
        </p:nvSpPr>
        <p:spPr>
          <a:xfrm>
            <a:off x="6446520" y="4379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89" name="Text 85"/>
          <p:cNvSpPr txBox="1"/>
          <p:nvPr/>
        </p:nvSpPr>
        <p:spPr>
          <a:xfrm>
            <a:off x="6949440" y="4343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原廠技術課程</a:t>
            </a:r>
            <a:endParaRPr lang="en-US" sz="1050" dirty="0"/>
          </a:p>
        </p:txBody>
      </p:sp>
      <p:sp>
        <p:nvSpPr>
          <p:cNvPr id="90" name="Text 86"/>
          <p:cNvSpPr txBox="1"/>
          <p:nvPr/>
        </p:nvSpPr>
        <p:spPr>
          <a:xfrm>
            <a:off x="9601200" y="434340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原廠講師</a:t>
            </a:r>
            <a:endParaRPr lang="en-US" sz="950" dirty="0"/>
          </a:p>
        </p:txBody>
      </p:sp>
      <p:sp>
        <p:nvSpPr>
          <p:cNvPr id="91" name="Shape 87"/>
          <p:cNvSpPr/>
          <p:nvPr/>
        </p:nvSpPr>
        <p:spPr>
          <a:xfrm>
            <a:off x="10469880" y="461772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6446520" y="479145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93" name="Text 89"/>
          <p:cNvSpPr txBox="1"/>
          <p:nvPr/>
        </p:nvSpPr>
        <p:spPr>
          <a:xfrm>
            <a:off x="644652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94" name="Text 90"/>
          <p:cNvSpPr txBox="1"/>
          <p:nvPr/>
        </p:nvSpPr>
        <p:spPr>
          <a:xfrm>
            <a:off x="6949440" y="47548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獨立服務案件 3 件</a:t>
            </a:r>
            <a:endParaRPr lang="en-US" sz="1050" dirty="0"/>
          </a:p>
        </p:txBody>
      </p:sp>
      <p:sp>
        <p:nvSpPr>
          <p:cNvPr id="95" name="Text 91"/>
          <p:cNvSpPr txBox="1"/>
          <p:nvPr/>
        </p:nvSpPr>
        <p:spPr>
          <a:xfrm>
            <a:off x="9601200" y="475488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技術主管</a:t>
            </a:r>
            <a:endParaRPr lang="en-US" sz="950" dirty="0"/>
          </a:p>
        </p:txBody>
      </p:sp>
      <p:sp>
        <p:nvSpPr>
          <p:cNvPr id="96" name="Shape 92"/>
          <p:cNvSpPr/>
          <p:nvPr/>
        </p:nvSpPr>
        <p:spPr>
          <a:xfrm>
            <a:off x="10469880" y="502920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6446520" y="520293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8762E"/>
            </a:solidFill>
            <a:prstDash val="dash"/>
          </a:ln>
        </p:spPr>
      </p:sp>
      <p:sp>
        <p:nvSpPr>
          <p:cNvPr id="98" name="Text 94"/>
          <p:cNvSpPr txBox="1"/>
          <p:nvPr/>
        </p:nvSpPr>
        <p:spPr>
          <a:xfrm>
            <a:off x="6446520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sp>
        <p:nvSpPr>
          <p:cNvPr id="99" name="Text 95"/>
          <p:cNvSpPr txBox="1"/>
          <p:nvPr/>
        </p:nvSpPr>
        <p:spPr>
          <a:xfrm>
            <a:off x="6949440" y="51663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 結訓成果分享</a:t>
            </a:r>
            <a:endParaRPr lang="en-US" sz="1050" dirty="0"/>
          </a:p>
        </p:txBody>
      </p:sp>
      <p:sp>
        <p:nvSpPr>
          <p:cNvPr id="100" name="Text 96"/>
          <p:cNvSpPr txBox="1"/>
          <p:nvPr/>
        </p:nvSpPr>
        <p:spPr>
          <a:xfrm>
            <a:off x="9601200" y="51663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</a:t>
            </a:r>
            <a:endParaRPr lang="en-US" sz="950" dirty="0"/>
          </a:p>
        </p:txBody>
      </p:sp>
      <p:sp>
        <p:nvSpPr>
          <p:cNvPr id="101" name="Shape 97"/>
          <p:cNvSpPr/>
          <p:nvPr/>
        </p:nvSpPr>
        <p:spPr>
          <a:xfrm>
            <a:off x="10469880" y="5440680"/>
            <a:ext cx="914400" cy="0"/>
          </a:xfrm>
          <a:prstGeom prst="line">
            <a:avLst/>
          </a:prstGeom>
          <a:noFill/>
          <a:ln w="12700">
            <a:solidFill>
              <a:srgbClr val="E1E6EC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640080" y="5943600"/>
            <a:ext cx="10927080" cy="384048"/>
          </a:xfrm>
          <a:prstGeom prst="roundRect">
            <a:avLst>
              <a:gd name="adj" fmla="val 33333"/>
            </a:avLst>
          </a:prstGeom>
          <a:solidFill>
            <a:srgbClr val="E6F3EC"/>
          </a:solidFill>
          <a:ln w="9525">
            <a:solidFill>
              <a:srgbClr val="E6F3EC"/>
            </a:solidFill>
            <a:prstDash val="solid"/>
          </a:ln>
        </p:spPr>
      </p:sp>
      <p:sp>
        <p:nvSpPr>
          <p:cNvPr id="103" name="Text 99"/>
          <p:cNvSpPr txBox="1"/>
          <p:nvPr/>
        </p:nvSpPr>
        <p:spPr>
          <a:xfrm>
            <a:off x="868680" y="594360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運作方式 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完成一項由簽章人簽名；每週五導師檢視護照。集滿 8 章 ＝ 結訓通過，作為轉正依據。</a:t>
            </a:r>
            <a:endParaRPr lang="en-US" sz="1050" dirty="0"/>
          </a:p>
        </p:txBody>
      </p:sp>
      <p:sp>
        <p:nvSpPr>
          <p:cNvPr id="104" name="Text 10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05" name="Text 101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新人 90 天教育訓練計畫</dc:title>
  <dc:subject>PptxGenJS Presentation</dc:subject>
  <dc:creator>PptxGenJS</dc:creator>
  <cp:lastModifiedBy>PptxGenJS</cp:lastModifiedBy>
  <cp:revision>1</cp:revision>
  <dcterms:created xsi:type="dcterms:W3CDTF">2026-09-30T01:20:40Z</dcterms:created>
  <dcterms:modified xsi:type="dcterms:W3CDTF">2026-09-30T01:20:40Z</dcterms:modified>
</cp:coreProperties>
</file>