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82296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0" b="1" dirty="0">
                <a:solidFill>
                  <a:srgbClr val="FFFFFF">
                    <a:alpha val="1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25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20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新人教育訓練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88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A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 天成長計畫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ED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Brother  ·  Okuma  ·  射出成型機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43434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343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營業組  5 人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331720" y="43434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1720" y="4343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技術組  4 人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" y="5806440"/>
            <a:ext cx="10698480" cy="0"/>
          </a:xfrm>
          <a:prstGeom prst="line">
            <a:avLst/>
          </a:prstGeom>
          <a:noFill/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教育架構   ·   週行程   ·   甘特圖   ·   輪調排版表   ·   學習護照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FRAMEWORK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 天教育架構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017520" cy="329184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54480"/>
            <a:ext cx="3017520" cy="1051560"/>
          </a:xfrm>
          <a:prstGeom prst="roundRect">
            <a:avLst>
              <a:gd name="adj" fmla="val 12174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331720"/>
            <a:ext cx="3017520" cy="274320"/>
          </a:xfrm>
          <a:prstGeom prst="rect">
            <a:avLst/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83080"/>
            <a:ext cx="566928" cy="566928"/>
          </a:xfrm>
          <a:prstGeom prst="ellipse">
            <a:avLst/>
          </a:prstGeom>
          <a:solidFill>
            <a:srgbClr val="0F1E33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1924812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54480" y="1737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INTRO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554480" y="19659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認識公司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697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 ・ Day 1–7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公司簡介、組織與制度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在公司研讀 Brother／Okuma／射出機型錄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職場安全與 5S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型錄小組分享與導師面談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840480" y="1554480"/>
            <a:ext cx="3657600" cy="32918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840480" y="1554480"/>
            <a:ext cx="3657600" cy="1051560"/>
          </a:xfrm>
          <a:prstGeom prst="roundRect">
            <a:avLst>
              <a:gd name="adj" fmla="val 12174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0480" y="2331720"/>
            <a:ext cx="3657600" cy="274320"/>
          </a:xfrm>
          <a:prstGeom prst="rect">
            <a:avLst/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23360" y="1783080"/>
            <a:ext cx="566928" cy="566928"/>
          </a:xfrm>
          <a:prstGeom prst="ellipse">
            <a:avLst/>
          </a:prstGeom>
          <a:solidFill>
            <a:srgbClr val="0F1E33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5092" y="1924812"/>
            <a:ext cx="283464" cy="28346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754880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FOUNDATION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19659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基礎輪調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4069080" y="2697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2–5 週 ・ Day 8–35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4069080" y="301752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營業週／技術週隔週交替，帶隊者每天輪流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產品基礎課程：機構、控制器、規格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營業 A–E 與技術 W–Z 一起隨行學習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30 完成第一輪輪調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680960" y="1554480"/>
            <a:ext cx="3886200" cy="32918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7680960" y="1554480"/>
            <a:ext cx="3886200" cy="1051560"/>
          </a:xfrm>
          <a:prstGeom prst="roundRect">
            <a:avLst>
              <a:gd name="adj" fmla="val 12174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0" y="2331720"/>
            <a:ext cx="3886200" cy="274320"/>
          </a:xfrm>
          <a:prstGeom prst="rect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863840" y="1783080"/>
            <a:ext cx="566928" cy="566928"/>
          </a:xfrm>
          <a:prstGeom prst="ellipse">
            <a:avLst/>
          </a:prstGeom>
          <a:solidFill>
            <a:srgbClr val="0F1E33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5572" y="1924812"/>
            <a:ext cx="283464" cy="28346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595360" y="17373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PRACTICE</a:t>
            </a:r>
            <a:endParaRPr lang="en-US" sz="900" dirty="0"/>
          </a:p>
        </p:txBody>
      </p:sp>
      <p:sp>
        <p:nvSpPr>
          <p:cNvPr id="28" name="Text 23"/>
          <p:cNvSpPr txBox="1"/>
          <p:nvPr/>
        </p:nvSpPr>
        <p:spPr>
          <a:xfrm>
            <a:off x="8595360" y="196596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專業實戰</a:t>
            </a:r>
            <a:endParaRPr lang="en-US" sz="2000" dirty="0"/>
          </a:p>
        </p:txBody>
      </p:sp>
      <p:sp>
        <p:nvSpPr>
          <p:cNvPr id="29" name="Text 24"/>
          <p:cNvSpPr txBox="1"/>
          <p:nvPr/>
        </p:nvSpPr>
        <p:spPr>
          <a:xfrm>
            <a:off x="7909560" y="2697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6–12 週 ・ Day 36–90</a:t>
            </a:r>
            <a:endParaRPr lang="en-US" sz="1050" dirty="0"/>
          </a:p>
        </p:txBody>
      </p:sp>
      <p:sp>
        <p:nvSpPr>
          <p:cNvPr id="30" name="Text 25"/>
          <p:cNvSpPr txBox="1"/>
          <p:nvPr/>
        </p:nvSpPr>
        <p:spPr>
          <a:xfrm>
            <a:off x="7909560" y="3017520"/>
            <a:ext cx="3429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營業：隨訪客戶 → 獨立拜訪 → 正式提案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技術：隨師裝機 → 保養實作 → 獨立服務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原廠／進階課程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90 結訓成果分享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914400" y="5486400"/>
            <a:ext cx="9966960" cy="0"/>
          </a:xfrm>
          <a:prstGeom prst="line">
            <a:avLst/>
          </a:prstGeom>
          <a:noFill/>
          <a:ln w="25400">
            <a:solidFill>
              <a:srgbClr val="E1E6EC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822960" y="5367528"/>
            <a:ext cx="237744" cy="237744"/>
          </a:xfrm>
          <a:prstGeom prst="ellipse">
            <a:avLst/>
          </a:prstGeom>
          <a:solidFill>
            <a:srgbClr val="E876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1143000" y="5303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7  </a:t>
            </a:r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完成公司認識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4023360" y="5367528"/>
            <a:ext cx="237744" cy="237744"/>
          </a:xfrm>
          <a:prstGeom prst="ellipse">
            <a:avLst/>
          </a:prstGeom>
          <a:solidFill>
            <a:srgbClr val="E876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343400" y="5303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30  </a:t>
            </a:r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完成第一輪輪調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7863840" y="5367528"/>
            <a:ext cx="237744" cy="237744"/>
          </a:xfrm>
          <a:prstGeom prst="ellipse">
            <a:avLst/>
          </a:prstGeom>
          <a:solidFill>
            <a:srgbClr val="E876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183880" y="5303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60  </a:t>
            </a:r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完成隨訪／保養實作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10149840" y="5367528"/>
            <a:ext cx="237744" cy="237744"/>
          </a:xfrm>
          <a:prstGeom prst="ellipse">
            <a:avLst/>
          </a:prstGeom>
          <a:solidFill>
            <a:srgbClr val="E876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10469880" y="5303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90  </a:t>
            </a:r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結訓成果分享</a:t>
            </a:r>
            <a:endParaRPr lang="en-US" sz="1050" dirty="0"/>
          </a:p>
        </p:txBody>
      </p:sp>
      <p:sp>
        <p:nvSpPr>
          <p:cNvPr id="40" name="Text 3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41" name="Text 36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· COMMON CURRICULUM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週共同課程（營業 + 技術，在公司內）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270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663440"/>
                <a:gridCol w="46177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日程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上午 09:00–12:00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下午 13:30–17:30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1（一）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報到、公司簡介、組織架構、經營理念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人事制度、差勤、資訊系統帳號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2（二）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工廠／展示中心導覽、職場安全與 5S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Brother 型錄研讀：SPEEDIO 系列、攻牙機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3（三）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Okuma 型錄研讀：車床、複合機、OSP 控制器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射出機型錄研讀：油壓／電動、規格表解讀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4（四）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客戶產業與應用案例（汽車、3C、醫療、模具）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競品比較與我司優勢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5（五）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型錄總複習與小組報告（每人 5 分鐘）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導師面談 ・ 分流說明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440680"/>
            <a:ext cx="10927080" cy="731520"/>
          </a:xfrm>
          <a:prstGeom prst="roundRect">
            <a:avLst>
              <a:gd name="adj" fmla="val 17500"/>
            </a:avLst>
          </a:prstGeom>
          <a:solidFill>
            <a:srgbClr val="FDEEE3"/>
          </a:solidFill>
          <a:ln w="9525">
            <a:solidFill>
              <a:srgbClr val="FD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5541264"/>
            <a:ext cx="530352" cy="530352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" y="5673852"/>
            <a:ext cx="265176" cy="26517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544068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週重點 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全員以型錄為主教材，不外出；每日於學習護照記錄心得，週五導師簽章。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2–12 · SCHEDULE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2–12 週行程（營業組 ／ 技術組）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9270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4640580"/>
                <a:gridCol w="4640580"/>
              </a:tblGrid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週次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階段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營業組 A–E（5 人）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技術組 W–Z（4 人）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62E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營業週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隨資深業務：拜訪、Demo、報價、提案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隨資深業務：客戶需求、Demo 準備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隨技師：保養流程、售後服務、常見問題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隨技師：工具儀器、保養、服務單流程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營業週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隨資深業務：訂單、交期、客戶回訪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隨資深業務：報價與零件流程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隨技師：機台操作、控制器基礎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隨技師：Brother C00／Okuma OSP 控制器操作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提案與報價：訪談、選型、合約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安裝與調校：水平、精度、試車、驗收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隨訪客戶 ①（Brother／Okuma 客戶）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保養實作 ①（Brother／Okuma 定期保養）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隨訪客戶 ②（射出機客戶）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保養實作 ②（射出機保養）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原廠銷售課程、射出機應用選型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原廠技術課程、射出機參數調整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 ①：陌生開發與客戶回訪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故障排除：警報判讀、電控與油壓診斷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 ②：商機追蹤、正式提案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獨立服務：保養與簡易維修案件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成果簡報、商機盤點 ・ 主管面談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案例分享 ・ 主管面談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807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備註：W7–W8 隨訪／現場作業一律隨資深同仁進行；W10 起獨立作業需事前與導師確認。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GANTT CHART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 天甘特圖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589520" y="85039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36408" y="777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共同活動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8641080" y="85039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7968" y="777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營業組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9692640" y="85039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939528" y="777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技術組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744200" y="850392"/>
            <a:ext cx="182880" cy="182880"/>
          </a:xfrm>
          <a:prstGeom prst="diamond">
            <a:avLst>
              <a:gd name="adj" fmla="val 25000"/>
            </a:avLst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91088" y="777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83280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83280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64508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64508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45736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45736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26964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26964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08192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08192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789420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89420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70648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70648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151876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51876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W8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833104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833104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14332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514332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195560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195560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876788" y="1554480"/>
            <a:ext cx="681228" cy="329184"/>
          </a:xfrm>
          <a:prstGeom prst="rect">
            <a:avLst/>
          </a:prstGeom>
          <a:solidFill>
            <a:srgbClr val="0F1E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876788" y="1554480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W12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0080" y="1956816"/>
            <a:ext cx="1092708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195681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1325880" y="195681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公司認識 ・ 型錄研讀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419856" y="2020824"/>
            <a:ext cx="608076" cy="201168"/>
          </a:xfrm>
          <a:prstGeom prst="roundRect">
            <a:avLst>
              <a:gd name="adj" fmla="val 36364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77240" y="228600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1325880" y="2286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營業／技術隔週輪調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101084" y="2350008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2615184"/>
            <a:ext cx="1092708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77240" y="261518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1325880" y="261518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產品基礎課程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101084" y="2679192"/>
            <a:ext cx="2651760" cy="201168"/>
          </a:xfrm>
          <a:prstGeom prst="roundRect">
            <a:avLst>
              <a:gd name="adj" fmla="val 36364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777240" y="29443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營業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1325880" y="29443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提案報價訓練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825996" y="3008376"/>
            <a:ext cx="608076" cy="201168"/>
          </a:xfrm>
          <a:prstGeom prst="roundRect">
            <a:avLst>
              <a:gd name="adj" fmla="val 36364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40080" y="3273552"/>
            <a:ext cx="1092708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77240" y="327355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營業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325880" y="327355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隨訪客戶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7507224" y="3337560"/>
            <a:ext cx="1289304" cy="201168"/>
          </a:xfrm>
          <a:prstGeom prst="roundRect">
            <a:avLst>
              <a:gd name="adj" fmla="val 36364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777240" y="3602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營業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1325880" y="360273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獨立拜訪 ・ 正式提案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9550908" y="3666744"/>
            <a:ext cx="1289304" cy="201168"/>
          </a:xfrm>
          <a:prstGeom prst="roundRect">
            <a:avLst>
              <a:gd name="adj" fmla="val 36364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40080" y="3931920"/>
            <a:ext cx="1092708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7240" y="393192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1325880" y="39319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安裝調校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6825996" y="3995928"/>
            <a:ext cx="608076" cy="201168"/>
          </a:xfrm>
          <a:prstGeom prst="roundRect">
            <a:avLst>
              <a:gd name="adj" fmla="val 36364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777240" y="426110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1325880" y="42611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保養實作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7507224" y="4325112"/>
            <a:ext cx="1289304" cy="201168"/>
          </a:xfrm>
          <a:prstGeom prst="roundRect">
            <a:avLst>
              <a:gd name="adj" fmla="val 36364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640080" y="4590288"/>
            <a:ext cx="1092708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77240" y="459028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1325880" y="459028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故障排除 ・ 獨立服務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9550908" y="4654296"/>
            <a:ext cx="1289304" cy="201168"/>
          </a:xfrm>
          <a:prstGeom prst="roundRect">
            <a:avLst>
              <a:gd name="adj" fmla="val 36364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68" name="Text 66"/>
          <p:cNvSpPr txBox="1"/>
          <p:nvPr/>
        </p:nvSpPr>
        <p:spPr>
          <a:xfrm>
            <a:off x="777240" y="49194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69" name="Text 67"/>
          <p:cNvSpPr txBox="1"/>
          <p:nvPr/>
        </p:nvSpPr>
        <p:spPr>
          <a:xfrm>
            <a:off x="1325880" y="491947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原廠／進階課程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8869680" y="4983480"/>
            <a:ext cx="608076" cy="201168"/>
          </a:xfrm>
          <a:prstGeom prst="roundRect">
            <a:avLst>
              <a:gd name="adj" fmla="val 36364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640080" y="5248656"/>
            <a:ext cx="1092708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777240" y="524865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1325880" y="524865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成果發表 ・ 結訓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10913364" y="5312664"/>
            <a:ext cx="608076" cy="201168"/>
          </a:xfrm>
          <a:prstGeom prst="roundRect">
            <a:avLst>
              <a:gd name="adj" fmla="val 36364"/>
            </a:avLst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  <a:effectLst>
            <a:outerShdw sx="100000" sy="100000" kx="0" ky="0" algn="bl" rotWithShape="0" blurRad="38100" dist="12700" dir="5400000">
              <a:srgbClr val="0F1E33">
                <a:alpha val="20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3383280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064508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745736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426964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108192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789420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470648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151876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833104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514332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195560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876788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558016" y="1956816"/>
            <a:ext cx="0" cy="3621024"/>
          </a:xfrm>
          <a:prstGeom prst="line">
            <a:avLst/>
          </a:prstGeom>
          <a:noFill/>
          <a:ln w="9525">
            <a:solidFill>
              <a:srgbClr val="E1E6E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777240" y="5687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3909060" y="5733288"/>
            <a:ext cx="274320" cy="274320"/>
          </a:xfrm>
          <a:prstGeom prst="diamond">
            <a:avLst/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3497580" y="60167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8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7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6633972" y="5733288"/>
            <a:ext cx="274320" cy="274320"/>
          </a:xfrm>
          <a:prstGeom prst="diamond">
            <a:avLst/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6222492" y="60167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8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30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8677656" y="5733288"/>
            <a:ext cx="274320" cy="274320"/>
          </a:xfrm>
          <a:prstGeom prst="diamond">
            <a:avLst/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8266176" y="60167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8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60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11402568" y="5733288"/>
            <a:ext cx="274320" cy="274320"/>
          </a:xfrm>
          <a:prstGeom prst="diamond">
            <a:avLst/>
          </a:prstGeom>
          <a:solidFill>
            <a:srgbClr val="2F8F63"/>
          </a:solidFill>
          <a:ln w="12700">
            <a:solidFill>
              <a:srgbClr val="2F8F63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10991088" y="60167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8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90</a:t>
            </a:r>
            <a:endParaRPr lang="en-US" sz="950" dirty="0"/>
          </a:p>
        </p:txBody>
      </p:sp>
      <p:sp>
        <p:nvSpPr>
          <p:cNvPr id="97" name="Text 9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98" name="Text 96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ROTATION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營業／技術輪調排版表（第 2–5 週，隔週交替）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新人名單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737360" y="141732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3736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營業 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606040" y="141732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營業 B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74720" y="141732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營業 C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43400" y="141732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4340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營業 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212080" y="141732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1208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營業 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09360" y="141732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 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78040" y="141732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804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 X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46720" y="141732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 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915400" y="141732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91540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 Z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270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566160"/>
                <a:gridCol w="3566160"/>
                <a:gridCol w="27889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日程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營業週（第 2、4 週）帶隊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技術週（第 3、5 週）帶隊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隨行新人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週一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資深業務 ①：客戶拜訪隨行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資深技師 ①：現場保養隨行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營業 A B ＋ 技術 W X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週二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資深業務 ②：展示中心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資深技師 ②：裝機／調校隨行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營業 C D ＋ 技術 Y Z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週三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資深業務 ③：報價與訂單流程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資深技師 ③：控制器操作教學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營業 E ＋ 技術 W X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週四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資深業務 ④：客戶需求與提案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資深技師 ④：零件備品與服務單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營業 A B C ＋ 技術 Y Z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週五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營業主管：週回顧、護照確認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技術主管：週回顧、護照確認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全員（A–E、W–Z）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640080" y="5074920"/>
            <a:ext cx="352044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22960" y="5193792"/>
            <a:ext cx="457200" cy="457200"/>
          </a:xfrm>
          <a:prstGeom prst="ellipse">
            <a:avLst/>
          </a:prstGeom>
          <a:solidFill>
            <a:srgbClr val="0F1E33"/>
          </a:solidFill>
          <a:ln w="12700">
            <a:solidFill>
              <a:srgbClr val="0F1E33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5308092"/>
            <a:ext cx="228600" cy="22860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417320" y="51389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每天輪流帶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822960" y="57150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帶隊者每日輪替，讓新人接觸不同資深同仁與工作內容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4343400" y="5074920"/>
            <a:ext cx="352044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4526280" y="5193792"/>
            <a:ext cx="457200" cy="457200"/>
          </a:xfrm>
          <a:prstGeom prst="ellipse">
            <a:avLst/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80" y="5308092"/>
            <a:ext cx="228600" cy="22860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5120640" y="51389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營業週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4526280" y="57150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2、4 週由營業部帶隊：拜訪、Demo、報價、提案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8046720" y="5074920"/>
            <a:ext cx="352044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35" name="Shape 30"/>
          <p:cNvSpPr/>
          <p:nvPr/>
        </p:nvSpPr>
        <p:spPr>
          <a:xfrm>
            <a:off x="8229600" y="5193792"/>
            <a:ext cx="457200" cy="457200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900" y="5308092"/>
            <a:ext cx="228600" cy="228600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823960" y="51389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技術週</a:t>
            </a:r>
            <a:endParaRPr lang="en-US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8229600" y="57150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3、5 週由技術部帶隊：保養、裝機、控制器、零件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40" name="Text 34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PASSPORT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學習護照（各大項目 OK ／ 不OK 確認）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349240" cy="438912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463040"/>
            <a:ext cx="5349240" cy="640080"/>
          </a:xfrm>
          <a:prstGeom prst="roundRect">
            <a:avLst>
              <a:gd name="adj" fmla="val 20000"/>
            </a:avLst>
          </a:prstGeom>
          <a:solidFill>
            <a:srgbClr val="E7EFF8"/>
          </a:solidFill>
          <a:ln w="12700">
            <a:solidFill>
              <a:srgbClr val="E7EF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28800"/>
            <a:ext cx="5349240" cy="274320"/>
          </a:xfrm>
          <a:prstGeom prst="rect">
            <a:avLst/>
          </a:prstGeom>
          <a:solidFill>
            <a:srgbClr val="E7EFF8"/>
          </a:solidFill>
          <a:ln w="12700">
            <a:solidFill>
              <a:srgbClr val="E7EF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72768"/>
            <a:ext cx="420624" cy="420624"/>
          </a:xfrm>
          <a:prstGeom prst="ellipse">
            <a:avLst/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677924"/>
            <a:ext cx="210312" cy="2103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71600" y="14630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營業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576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8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3434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不OK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074920" y="14630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確認人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31520" y="2240280"/>
            <a:ext cx="5166360" cy="40233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224028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224028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Brother 產品熟悉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858768" y="2322576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F8F6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44568" y="2322576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166360" y="2551176"/>
            <a:ext cx="64008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8680" y="26700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2670048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Okuma 產品熟悉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858768" y="2752344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F8F6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544568" y="2752344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66360" y="2980944"/>
            <a:ext cx="64008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1520" y="3099816"/>
            <a:ext cx="5166360" cy="40233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68680" y="309981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309981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射出機產品熟悉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3858768" y="3182112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F8F6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544568" y="3182112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166360" y="3410712"/>
            <a:ext cx="64008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352958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1280160" y="3529584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公司制度與流程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3858768" y="3611880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F8F6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44568" y="3611880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166360" y="3840480"/>
            <a:ext cx="64008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31520" y="3959352"/>
            <a:ext cx="5166360" cy="40233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8680" y="395935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1280160" y="3959352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報價與訂單流程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3858768" y="4041648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F8F63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544568" y="4041648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166360" y="4270248"/>
            <a:ext cx="64008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8680" y="43891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1280160" y="438912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展示中心 Demo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3858768" y="4471416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F8F63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44568" y="4471416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166360" y="4700016"/>
            <a:ext cx="64008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31520" y="4818888"/>
            <a:ext cx="5166360" cy="40233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68680" y="48188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1280160" y="4818888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客戶拜訪與提案</a:t>
            </a:r>
            <a:endParaRPr lang="en-US" sz="1150" dirty="0"/>
          </a:p>
        </p:txBody>
      </p:sp>
      <p:sp>
        <p:nvSpPr>
          <p:cNvPr id="49" name="Shape 46"/>
          <p:cNvSpPr/>
          <p:nvPr/>
        </p:nvSpPr>
        <p:spPr>
          <a:xfrm>
            <a:off x="3858768" y="4901184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F8F63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4544568" y="4901184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66360" y="5129784"/>
            <a:ext cx="64008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68680" y="524865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1280160" y="524865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售後服務流程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>
            <a:off x="3858768" y="5330952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F8F63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544568" y="5330952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5166360" y="5559552"/>
            <a:ext cx="64008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217920" y="1463040"/>
            <a:ext cx="5349240" cy="438912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9525">
            <a:solidFill>
              <a:srgbClr val="E1E6EC"/>
            </a:solidFill>
            <a:prstDash val="solid"/>
          </a:ln>
          <a:effectLst>
            <a:outerShdw sx="100000" sy="100000" kx="0" ky="0" algn="bl" rotWithShape="0" blurRad="127000" dist="38100" dir="5400000">
              <a:srgbClr val="0F1E33">
                <a:alpha val="10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6217920" y="1463040"/>
            <a:ext cx="5349240" cy="640080"/>
          </a:xfrm>
          <a:prstGeom prst="roundRect">
            <a:avLst>
              <a:gd name="adj" fmla="val 20000"/>
            </a:avLst>
          </a:prstGeom>
          <a:solidFill>
            <a:srgbClr val="FDEEE3"/>
          </a:solidFill>
          <a:ln w="12700">
            <a:solidFill>
              <a:srgbClr val="FDEEE3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217920" y="1828800"/>
            <a:ext cx="5349240" cy="274320"/>
          </a:xfrm>
          <a:prstGeom prst="rect">
            <a:avLst/>
          </a:prstGeom>
          <a:solidFill>
            <a:srgbClr val="FDEEE3"/>
          </a:solidFill>
          <a:ln w="12700">
            <a:solidFill>
              <a:srgbClr val="FDEEE3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6400800" y="1572768"/>
            <a:ext cx="420624" cy="420624"/>
          </a:xfrm>
          <a:prstGeom prst="ellipse">
            <a:avLst/>
          </a:prstGeom>
          <a:solidFill>
            <a:srgbClr val="E8762E"/>
          </a:solidFill>
          <a:ln w="12700">
            <a:solidFill>
              <a:srgbClr val="E8762E"/>
            </a:solidFill>
            <a:prstDash val="solid"/>
          </a:ln>
        </p:spPr>
      </p:sp>
      <p:pic>
        <p:nvPicPr>
          <p:cNvPr id="6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956" y="1677924"/>
            <a:ext cx="210312" cy="210312"/>
          </a:xfrm>
          <a:prstGeom prst="rect">
            <a:avLst/>
          </a:prstGeom>
        </p:spPr>
      </p:pic>
      <p:sp>
        <p:nvSpPr>
          <p:cNvPr id="62" name="Text 58"/>
          <p:cNvSpPr txBox="1"/>
          <p:nvPr/>
        </p:nvSpPr>
        <p:spPr>
          <a:xfrm>
            <a:off x="6949440" y="14630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76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</a:t>
            </a:r>
            <a:endParaRPr lang="en-US" sz="1500" dirty="0"/>
          </a:p>
        </p:txBody>
      </p:sp>
      <p:sp>
        <p:nvSpPr>
          <p:cNvPr id="63" name="Text 59"/>
          <p:cNvSpPr txBox="1"/>
          <p:nvPr/>
        </p:nvSpPr>
        <p:spPr>
          <a:xfrm>
            <a:off x="92354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8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100" dirty="0"/>
          </a:p>
        </p:txBody>
      </p:sp>
      <p:sp>
        <p:nvSpPr>
          <p:cNvPr id="64" name="Text 60"/>
          <p:cNvSpPr txBox="1"/>
          <p:nvPr/>
        </p:nvSpPr>
        <p:spPr>
          <a:xfrm>
            <a:off x="99212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不OK</a:t>
            </a:r>
            <a:endParaRPr lang="en-US" sz="1100" dirty="0"/>
          </a:p>
        </p:txBody>
      </p:sp>
      <p:sp>
        <p:nvSpPr>
          <p:cNvPr id="65" name="Text 61"/>
          <p:cNvSpPr txBox="1"/>
          <p:nvPr/>
        </p:nvSpPr>
        <p:spPr>
          <a:xfrm>
            <a:off x="10652760" y="14630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確認人</a:t>
            </a:r>
            <a:endParaRPr lang="en-US" sz="1000" dirty="0"/>
          </a:p>
        </p:txBody>
      </p:sp>
      <p:sp>
        <p:nvSpPr>
          <p:cNvPr id="66" name="Shape 62"/>
          <p:cNvSpPr/>
          <p:nvPr/>
        </p:nvSpPr>
        <p:spPr>
          <a:xfrm>
            <a:off x="6309360" y="2240280"/>
            <a:ext cx="5166360" cy="40233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6446520" y="224028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8" name="Text 64"/>
          <p:cNvSpPr txBox="1"/>
          <p:nvPr/>
        </p:nvSpPr>
        <p:spPr>
          <a:xfrm>
            <a:off x="6858000" y="224028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了解機台相關知識</a:t>
            </a:r>
            <a:endParaRPr lang="en-US" sz="1150" dirty="0"/>
          </a:p>
        </p:txBody>
      </p:sp>
      <p:sp>
        <p:nvSpPr>
          <p:cNvPr id="69" name="Shape 65"/>
          <p:cNvSpPr/>
          <p:nvPr/>
        </p:nvSpPr>
        <p:spPr>
          <a:xfrm>
            <a:off x="9436608" y="2322576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F8F63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10122408" y="2322576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10744200" y="2551176"/>
            <a:ext cx="64008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6446520" y="26700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73" name="Text 69"/>
          <p:cNvSpPr txBox="1"/>
          <p:nvPr/>
        </p:nvSpPr>
        <p:spPr>
          <a:xfrm>
            <a:off x="6858000" y="2670048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Brother 控制器操作</a:t>
            </a:r>
            <a:endParaRPr lang="en-US" sz="1150" dirty="0"/>
          </a:p>
        </p:txBody>
      </p:sp>
      <p:sp>
        <p:nvSpPr>
          <p:cNvPr id="74" name="Shape 70"/>
          <p:cNvSpPr/>
          <p:nvPr/>
        </p:nvSpPr>
        <p:spPr>
          <a:xfrm>
            <a:off x="9436608" y="2752344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F8F63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10122408" y="2752344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0744200" y="2980944"/>
            <a:ext cx="64008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6309360" y="3099816"/>
            <a:ext cx="5166360" cy="40233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6446520" y="309981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79" name="Text 75"/>
          <p:cNvSpPr txBox="1"/>
          <p:nvPr/>
        </p:nvSpPr>
        <p:spPr>
          <a:xfrm>
            <a:off x="6858000" y="309981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Okuma OSP 控制器操作</a:t>
            </a:r>
            <a:endParaRPr lang="en-US" sz="1150" dirty="0"/>
          </a:p>
        </p:txBody>
      </p:sp>
      <p:sp>
        <p:nvSpPr>
          <p:cNvPr id="80" name="Shape 76"/>
          <p:cNvSpPr/>
          <p:nvPr/>
        </p:nvSpPr>
        <p:spPr>
          <a:xfrm>
            <a:off x="9436608" y="3182112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F8F63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10122408" y="3182112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10744200" y="3410712"/>
            <a:ext cx="64008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6446520" y="352958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84" name="Text 80"/>
          <p:cNvSpPr txBox="1"/>
          <p:nvPr/>
        </p:nvSpPr>
        <p:spPr>
          <a:xfrm>
            <a:off x="6858000" y="3529584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射出機操作與參數</a:t>
            </a:r>
            <a:endParaRPr lang="en-US" sz="1150" dirty="0"/>
          </a:p>
        </p:txBody>
      </p:sp>
      <p:sp>
        <p:nvSpPr>
          <p:cNvPr id="85" name="Shape 81"/>
          <p:cNvSpPr/>
          <p:nvPr/>
        </p:nvSpPr>
        <p:spPr>
          <a:xfrm>
            <a:off x="9436608" y="3611880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F8F63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10122408" y="3611880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10744200" y="3840480"/>
            <a:ext cx="64008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6309360" y="3959352"/>
            <a:ext cx="5166360" cy="40233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6446520" y="395935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90" name="Text 86"/>
          <p:cNvSpPr txBox="1"/>
          <p:nvPr/>
        </p:nvSpPr>
        <p:spPr>
          <a:xfrm>
            <a:off x="6858000" y="3959352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安裝與調校</a:t>
            </a:r>
            <a:endParaRPr lang="en-US" sz="1150" dirty="0"/>
          </a:p>
        </p:txBody>
      </p:sp>
      <p:sp>
        <p:nvSpPr>
          <p:cNvPr id="91" name="Shape 87"/>
          <p:cNvSpPr/>
          <p:nvPr/>
        </p:nvSpPr>
        <p:spPr>
          <a:xfrm>
            <a:off x="9436608" y="4041648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F8F63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10122408" y="4041648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10744200" y="4270248"/>
            <a:ext cx="64008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94" name="Text 90"/>
          <p:cNvSpPr txBox="1"/>
          <p:nvPr/>
        </p:nvSpPr>
        <p:spPr>
          <a:xfrm>
            <a:off x="6446520" y="43891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95" name="Text 91"/>
          <p:cNvSpPr txBox="1"/>
          <p:nvPr/>
        </p:nvSpPr>
        <p:spPr>
          <a:xfrm>
            <a:off x="6858000" y="438912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定期保養</a:t>
            </a:r>
            <a:endParaRPr lang="en-US" sz="1150" dirty="0"/>
          </a:p>
        </p:txBody>
      </p:sp>
      <p:sp>
        <p:nvSpPr>
          <p:cNvPr id="96" name="Shape 92"/>
          <p:cNvSpPr/>
          <p:nvPr/>
        </p:nvSpPr>
        <p:spPr>
          <a:xfrm>
            <a:off x="9436608" y="4471416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F8F63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10122408" y="4471416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10744200" y="4700016"/>
            <a:ext cx="64008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6309360" y="4818888"/>
            <a:ext cx="5166360" cy="40233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0" name="Text 96"/>
          <p:cNvSpPr txBox="1"/>
          <p:nvPr/>
        </p:nvSpPr>
        <p:spPr>
          <a:xfrm>
            <a:off x="6446520" y="48188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1" name="Text 97"/>
          <p:cNvSpPr txBox="1"/>
          <p:nvPr/>
        </p:nvSpPr>
        <p:spPr>
          <a:xfrm>
            <a:off x="6858000" y="4818888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故障排除</a:t>
            </a:r>
            <a:endParaRPr lang="en-US" sz="1150" dirty="0"/>
          </a:p>
        </p:txBody>
      </p:sp>
      <p:sp>
        <p:nvSpPr>
          <p:cNvPr id="102" name="Shape 98"/>
          <p:cNvSpPr/>
          <p:nvPr/>
        </p:nvSpPr>
        <p:spPr>
          <a:xfrm>
            <a:off x="9436608" y="4901184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F8F63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10122408" y="4901184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10744200" y="5129784"/>
            <a:ext cx="64008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105" name="Text 101"/>
          <p:cNvSpPr txBox="1"/>
          <p:nvPr/>
        </p:nvSpPr>
        <p:spPr>
          <a:xfrm>
            <a:off x="6446520" y="524865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106" name="Text 102"/>
          <p:cNvSpPr txBox="1"/>
          <p:nvPr/>
        </p:nvSpPr>
        <p:spPr>
          <a:xfrm>
            <a:off x="6858000" y="524865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零件與備品流程</a:t>
            </a:r>
            <a:endParaRPr lang="en-US" sz="1150" dirty="0"/>
          </a:p>
        </p:txBody>
      </p:sp>
      <p:sp>
        <p:nvSpPr>
          <p:cNvPr id="107" name="Shape 103"/>
          <p:cNvSpPr/>
          <p:nvPr/>
        </p:nvSpPr>
        <p:spPr>
          <a:xfrm>
            <a:off x="9436608" y="5330952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2F8F63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10122408" y="5330952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10744200" y="5559552"/>
            <a:ext cx="64008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640080" y="5989320"/>
            <a:ext cx="10927080" cy="365760"/>
          </a:xfrm>
          <a:prstGeom prst="roundRect">
            <a:avLst>
              <a:gd name="adj" fmla="val 35000"/>
            </a:avLst>
          </a:prstGeom>
          <a:solidFill>
            <a:srgbClr val="E6F3EC"/>
          </a:solidFill>
          <a:ln w="9525">
            <a:solidFill>
              <a:srgbClr val="E6F3EC"/>
            </a:solidFill>
            <a:prstDash val="solid"/>
          </a:ln>
        </p:spPr>
      </p:sp>
      <p:sp>
        <p:nvSpPr>
          <p:cNvPr id="111" name="Text 107"/>
          <p:cNvSpPr txBox="1"/>
          <p:nvPr/>
        </p:nvSpPr>
        <p:spPr>
          <a:xfrm>
            <a:off x="86868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8F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運作方式 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各大項由帶隊資深同仁或主管確認 OK；不OK 者於下一週安排補強，全部 OK 即結訓。</a:t>
            </a:r>
            <a:endParaRPr lang="en-US" sz="1050" dirty="0"/>
          </a:p>
        </p:txBody>
      </p:sp>
      <p:sp>
        <p:nvSpPr>
          <p:cNvPr id="112" name="Text 108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HIRE ONBOARDING PROGRAM  ·  90 DAYS</a:t>
            </a:r>
            <a:endParaRPr lang="en-US" sz="850" dirty="0"/>
          </a:p>
        </p:txBody>
      </p:sp>
      <p:sp>
        <p:nvSpPr>
          <p:cNvPr id="113" name="Text 109"/>
          <p:cNvSpPr txBox="1"/>
          <p:nvPr/>
        </p:nvSpPr>
        <p:spPr>
          <a:xfrm>
            <a:off x="10607040" y="6400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A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新人 90 天教育訓練計畫</dc:title>
  <dc:subject>PptxGenJS Presentation</dc:subject>
  <dc:creator>PptxGenJS</dc:creator>
  <cp:lastModifiedBy>PptxGenJS</cp:lastModifiedBy>
  <cp:revision>1</cp:revision>
  <dcterms:created xsi:type="dcterms:W3CDTF">2026-09-30T01:30:03Z</dcterms:created>
  <dcterms:modified xsi:type="dcterms:W3CDTF">2026-09-30T01:30:03Z</dcterms:modified>
</cp:coreProperties>
</file>