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0" y="82296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0" b="1" dirty="0">
                <a:solidFill>
                  <a:srgbClr val="FFFFFF">
                    <a:alpha val="1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25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7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HIRE ONBOARDING PROGRAM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新人教育訓練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88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 天成長計畫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03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CE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Brother  ·  Okuma  ·  射出成型機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3434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3434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業務組  5 人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31720" y="43434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8762E"/>
          </a:solidFill>
          <a:ln w="12700">
            <a:solidFill>
              <a:srgbClr val="E876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31720" y="43434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技術組  4 人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5806440"/>
            <a:ext cx="10698480" cy="0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教育架構   ·   週行程   ·   甘特圖   ·   輪調排版表   ·   學習護照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7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FRAMEWORK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 天教育架構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017520" cy="329184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E1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0F1E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3017520" cy="1051560"/>
          </a:xfrm>
          <a:prstGeom prst="roundRect">
            <a:avLst>
              <a:gd name="adj" fmla="val 12174"/>
            </a:avLst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31720"/>
            <a:ext cx="3017520" cy="2743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566928" cy="566928"/>
          </a:xfrm>
          <a:prstGeom prst="ellipse">
            <a:avLst/>
          </a:prstGeom>
          <a:solidFill>
            <a:srgbClr val="0F1E33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92481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INTRO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1965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認識公司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週 ・ Day 1–7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01752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公司簡介、組織與制度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在公司研讀 Brother／Okuma／射出機型錄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職場安全與 5S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週測驗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840480" y="1554480"/>
            <a:ext cx="365760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9525">
            <a:solidFill>
              <a:srgbClr val="E1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0F1E33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840480" y="1554480"/>
            <a:ext cx="3657600" cy="1051560"/>
          </a:xfrm>
          <a:prstGeom prst="roundRect">
            <a:avLst>
              <a:gd name="adj" fmla="val 12174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40480" y="2331720"/>
            <a:ext cx="3657600" cy="274320"/>
          </a:xfrm>
          <a:prstGeom prst="rect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23360" y="1783080"/>
            <a:ext cx="566928" cy="566928"/>
          </a:xfrm>
          <a:prstGeom prst="ellipse">
            <a:avLst/>
          </a:prstGeom>
          <a:solidFill>
            <a:srgbClr val="0F1E33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092" y="1924812"/>
            <a:ext cx="283464" cy="28346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75488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FOUNDATION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475488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基礎輪調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40690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2–5 週 ・ Day 8–35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4069080" y="301752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部門輪調：展示中心／服務部／零件倉／業務部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產品基礎課程：機構、控制器、規格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5 週回歸各組專業課程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30 產品知識筆試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680960" y="1554480"/>
            <a:ext cx="388620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9525">
            <a:solidFill>
              <a:srgbClr val="E1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0F1E33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680960" y="1554480"/>
            <a:ext cx="3886200" cy="1051560"/>
          </a:xfrm>
          <a:prstGeom prst="roundRect">
            <a:avLst>
              <a:gd name="adj" fmla="val 12174"/>
            </a:avLst>
          </a:prstGeom>
          <a:solidFill>
            <a:srgbClr val="E8762E"/>
          </a:solidFill>
          <a:ln w="12700">
            <a:solidFill>
              <a:srgbClr val="E8762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680960" y="2331720"/>
            <a:ext cx="3886200" cy="274320"/>
          </a:xfrm>
          <a:prstGeom prst="rect">
            <a:avLst/>
          </a:prstGeom>
          <a:solidFill>
            <a:srgbClr val="E8762E"/>
          </a:solidFill>
          <a:ln w="12700">
            <a:solidFill>
              <a:srgbClr val="E8762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863840" y="1783080"/>
            <a:ext cx="566928" cy="566928"/>
          </a:xfrm>
          <a:prstGeom prst="ellipse">
            <a:avLst/>
          </a:prstGeom>
          <a:solidFill>
            <a:srgbClr val="0F1E33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5572" y="1924812"/>
            <a:ext cx="283464" cy="28346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595360" y="17373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PRACTICE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8595360" y="19659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專業實戰</a:t>
            </a:r>
            <a:endParaRPr lang="en-US" sz="2000" dirty="0"/>
          </a:p>
        </p:txBody>
      </p:sp>
      <p:sp>
        <p:nvSpPr>
          <p:cNvPr id="29" name="Text 24"/>
          <p:cNvSpPr txBox="1"/>
          <p:nvPr/>
        </p:nvSpPr>
        <p:spPr>
          <a:xfrm>
            <a:off x="7909560" y="26974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6–12 週 ・ Day 36–90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909560" y="301752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業務：隨訪客戶 → 獨立拜訪 → 正式提案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技術：隨師裝機 → 保養實作 → 獨立服務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原廠／進階課程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60 實作考核、Day 90 結訓發表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914400" y="5486400"/>
            <a:ext cx="9966960" cy="0"/>
          </a:xfrm>
          <a:prstGeom prst="line">
            <a:avLst/>
          </a:prstGeom>
          <a:noFill/>
          <a:ln w="25400">
            <a:solidFill>
              <a:srgbClr val="E1E6EC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822960" y="5367528"/>
            <a:ext cx="237744" cy="237744"/>
          </a:xfrm>
          <a:prstGeom prst="ellipse">
            <a:avLst/>
          </a:prstGeom>
          <a:solidFill>
            <a:srgbClr val="E876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1143000" y="5303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7  </a:t>
            </a:r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完成公司認識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4023360" y="5367528"/>
            <a:ext cx="237744" cy="237744"/>
          </a:xfrm>
          <a:prstGeom prst="ellipse">
            <a:avLst/>
          </a:prstGeom>
          <a:solidFill>
            <a:srgbClr val="E876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4343400" y="5303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30  </a:t>
            </a:r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產品知識筆試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7863840" y="5367528"/>
            <a:ext cx="237744" cy="237744"/>
          </a:xfrm>
          <a:prstGeom prst="ellipse">
            <a:avLst/>
          </a:prstGeom>
          <a:solidFill>
            <a:srgbClr val="E876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8183880" y="5303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60  </a:t>
            </a:r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實作演練考核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10149840" y="5367528"/>
            <a:ext cx="237744" cy="237744"/>
          </a:xfrm>
          <a:prstGeom prst="ellipse">
            <a:avLst/>
          </a:prstGeom>
          <a:solidFill>
            <a:srgbClr val="E876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10469880" y="5303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90  </a:t>
            </a:r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結訓發表</a:t>
            </a:r>
            <a:endParaRPr lang="en-US" sz="1050" dirty="0"/>
          </a:p>
        </p:txBody>
      </p:sp>
      <p:sp>
        <p:nvSpPr>
          <p:cNvPr id="40" name="Text 3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HIRE ONBOARDING PROGRAM  ·  90 DAYS</a:t>
            </a:r>
            <a:endParaRPr lang="en-US" sz="850" dirty="0"/>
          </a:p>
        </p:txBody>
      </p:sp>
      <p:sp>
        <p:nvSpPr>
          <p:cNvPr id="41" name="Text 36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7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· COMMON CURRICULUM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週共同課程（業務 + 技術，在公司內）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270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663440"/>
                <a:gridCol w="4617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日程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上午 09:00–12:00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下午 13:30–17:30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Day 1（一）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報到、公司簡介、組織架構、經營理念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人事制度、差勤、資訊系統帳號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Day 2（二）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工廠／展示中心導覽、職場安全與 5S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Brother 型錄研讀：SPEEDIO 系列、攻牙機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Day 3（三）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Okuma 型錄研讀：車床、複合機、OSP 控制器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射出機型錄研讀：油壓／電動、規格表解讀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Day 4（四）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客戶產業與應用案例（汽車、3C、醫療、模具）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競品比較與我司優勢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Day 5（五）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型錄總複習與小組報告（每人 5 分鐘）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1 週測驗 ・ 導師面談 ・ 分流說明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440680"/>
            <a:ext cx="10927080" cy="731520"/>
          </a:xfrm>
          <a:prstGeom prst="roundRect">
            <a:avLst>
              <a:gd name="adj" fmla="val 17500"/>
            </a:avLst>
          </a:prstGeom>
          <a:solidFill>
            <a:srgbClr val="FDEEE3"/>
          </a:solidFill>
          <a:ln w="9525">
            <a:solidFill>
              <a:srgbClr val="FDEE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5541264"/>
            <a:ext cx="530352" cy="530352"/>
          </a:xfrm>
          <a:prstGeom prst="ellipse">
            <a:avLst/>
          </a:prstGeom>
          <a:solidFill>
            <a:srgbClr val="E8762E"/>
          </a:solidFill>
          <a:ln w="12700">
            <a:solidFill>
              <a:srgbClr val="E876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5673852"/>
            <a:ext cx="265176" cy="26517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544068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7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週重點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全員以型錄為主教材，不外出；每日於學習護照記錄心得，週五導師簽章。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HIRE ONBOARDING PROGRAM  ·  90 DAYS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7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2–12 · SCHEDULE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2–12 週行程（業務組 ／ 技術組）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27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4640580"/>
                <a:gridCol w="4640580"/>
              </a:tblGrid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週次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階段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業務組（5 人）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技術組（4 人）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62E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7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輪調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展示中心：Demo 流程、來訪接待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技術服務部：工具儀器、服務單流程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3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7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輪調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技術服務部：隨技師保養、售後流程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零件倉：料號系統、備品管理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3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7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輪調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零件倉／內勤：報價、訂單、交期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業務部／展示中心：客戶需求、Demo 準備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3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7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基礎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市場與客戶分析、CRM ・ Day 30 筆試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Brother C00／Okuma OSP 控制器 ・ Day 30 筆試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3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7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提案與報價：訪談、選型、合約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安裝與調校：水平、精度、試車、驗收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3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7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隨訪客戶 ①（Brother／Okuma 客戶）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保養實作 ①（Brother／Okuma 定期保養）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3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7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隨訪客戶 ②（射出機）・ Day 60 角色扮演考核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保養實作 ②（射出機）・ Day 60 實作考核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3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7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原廠銷售課程、射出機應用選型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原廠技術課程、射出機參數調整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3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7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獨立拜訪 ①：陌生開發與客戶回訪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故障排除：警報判讀、電控與油壓診斷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3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7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獨立拜訪 ②：商機追蹤、正式提案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獨立服務：保養與簡易維修案件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3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7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成果簡報、商機盤點 ・ Day 90 結訓考核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案例分享、實機考核 ・ Day 90 結訓考核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080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備註：W7–W8 隨訪／現場作業一律隨資深同仁進行；W10 起獨立作業需事前與導師確認。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HIRE ONBOARDING PROGRAM  ·  90 DAYS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7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GANTT CHART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 天甘特圖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589520" y="850392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36408" y="7772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共同活動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641080" y="850392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87968" y="7772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業務組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692640" y="850392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8762E"/>
          </a:solidFill>
          <a:ln w="12700">
            <a:solidFill>
              <a:srgbClr val="E876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939528" y="7772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744200" y="850392"/>
            <a:ext cx="182880" cy="182880"/>
          </a:xfrm>
          <a:prstGeom prst="diamond">
            <a:avLst>
              <a:gd name="adj" fmla="val 25000"/>
            </a:avLst>
          </a:prstGeom>
          <a:solidFill>
            <a:srgbClr val="2F8F63"/>
          </a:solidFill>
          <a:ln w="12700">
            <a:solidFill>
              <a:srgbClr val="2F8F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91088" y="7772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0" y="1554480"/>
            <a:ext cx="681228" cy="329184"/>
          </a:xfrm>
          <a:prstGeom prst="rect">
            <a:avLst/>
          </a:prstGeom>
          <a:solidFill>
            <a:srgbClr val="0F1E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3280" y="1554480"/>
            <a:ext cx="6812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64508" y="1554480"/>
            <a:ext cx="681228" cy="329184"/>
          </a:xfrm>
          <a:prstGeom prst="rect">
            <a:avLst/>
          </a:prstGeom>
          <a:solidFill>
            <a:srgbClr val="0F1E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64508" y="1554480"/>
            <a:ext cx="6812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45736" y="1554480"/>
            <a:ext cx="681228" cy="329184"/>
          </a:xfrm>
          <a:prstGeom prst="rect">
            <a:avLst/>
          </a:prstGeom>
          <a:solidFill>
            <a:srgbClr val="0F1E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45736" y="1554480"/>
            <a:ext cx="6812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26964" y="1554480"/>
            <a:ext cx="681228" cy="329184"/>
          </a:xfrm>
          <a:prstGeom prst="rect">
            <a:avLst/>
          </a:prstGeom>
          <a:solidFill>
            <a:srgbClr val="0F1E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26964" y="1554480"/>
            <a:ext cx="6812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08192" y="1554480"/>
            <a:ext cx="681228" cy="329184"/>
          </a:xfrm>
          <a:prstGeom prst="rect">
            <a:avLst/>
          </a:prstGeom>
          <a:solidFill>
            <a:srgbClr val="0F1E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08192" y="1554480"/>
            <a:ext cx="6812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89420" y="1554480"/>
            <a:ext cx="681228" cy="329184"/>
          </a:xfrm>
          <a:prstGeom prst="rect">
            <a:avLst/>
          </a:prstGeom>
          <a:solidFill>
            <a:srgbClr val="0F1E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89420" y="1554480"/>
            <a:ext cx="6812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70648" y="1554480"/>
            <a:ext cx="681228" cy="329184"/>
          </a:xfrm>
          <a:prstGeom prst="rect">
            <a:avLst/>
          </a:prstGeom>
          <a:solidFill>
            <a:srgbClr val="0F1E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70648" y="1554480"/>
            <a:ext cx="6812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51876" y="1554480"/>
            <a:ext cx="681228" cy="329184"/>
          </a:xfrm>
          <a:prstGeom prst="rect">
            <a:avLst/>
          </a:prstGeom>
          <a:solidFill>
            <a:srgbClr val="0F1E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51876" y="1554480"/>
            <a:ext cx="6812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833104" y="1554480"/>
            <a:ext cx="681228" cy="329184"/>
          </a:xfrm>
          <a:prstGeom prst="rect">
            <a:avLst/>
          </a:prstGeom>
          <a:solidFill>
            <a:srgbClr val="0F1E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833104" y="1554480"/>
            <a:ext cx="6812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W9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514332" y="1554480"/>
            <a:ext cx="681228" cy="329184"/>
          </a:xfrm>
          <a:prstGeom prst="rect">
            <a:avLst/>
          </a:prstGeom>
          <a:solidFill>
            <a:srgbClr val="0F1E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514332" y="1554480"/>
            <a:ext cx="6812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195560" y="1554480"/>
            <a:ext cx="681228" cy="329184"/>
          </a:xfrm>
          <a:prstGeom prst="rect">
            <a:avLst/>
          </a:prstGeom>
          <a:solidFill>
            <a:srgbClr val="0F1E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195560" y="1554480"/>
            <a:ext cx="6812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876788" y="1554480"/>
            <a:ext cx="681228" cy="329184"/>
          </a:xfrm>
          <a:prstGeom prst="rect">
            <a:avLst/>
          </a:prstGeom>
          <a:solidFill>
            <a:srgbClr val="0F1E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876788" y="1554480"/>
            <a:ext cx="6812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1956816"/>
            <a:ext cx="10927080" cy="32918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195681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1325880" y="19568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公司認識 ・ 型錄研讀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419856" y="2020824"/>
            <a:ext cx="608076" cy="201168"/>
          </a:xfrm>
          <a:prstGeom prst="roundRect">
            <a:avLst>
              <a:gd name="adj" fmla="val 36364"/>
            </a:avLst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  <a:effectLst>
            <a:outerShdw sx="100000" sy="100000" kx="0" ky="0" algn="bl" rotWithShape="0" blurRad="38100" dist="12700" dir="5400000">
              <a:srgbClr val="0F1E33">
                <a:alpha val="20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777240" y="22860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1325880" y="22860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部門輪調（4 站）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101084" y="2350008"/>
            <a:ext cx="1970532" cy="201168"/>
          </a:xfrm>
          <a:prstGeom prst="roundRect">
            <a:avLst>
              <a:gd name="adj" fmla="val 36364"/>
            </a:avLst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  <a:effectLst>
            <a:outerShdw sx="100000" sy="100000" kx="0" ky="0" algn="bl" rotWithShape="0" blurRad="38100" dist="12700" dir="5400000">
              <a:srgbClr val="0F1E33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0080" y="2615184"/>
            <a:ext cx="10927080" cy="32918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77240" y="261518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1325880" y="261518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產品基礎課程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101084" y="2679192"/>
            <a:ext cx="2651760" cy="201168"/>
          </a:xfrm>
          <a:prstGeom prst="roundRect">
            <a:avLst>
              <a:gd name="adj" fmla="val 36364"/>
            </a:avLst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  <a:effectLst>
            <a:outerShdw sx="100000" sy="100000" kx="0" ky="0" algn="bl" rotWithShape="0" blurRad="38100" dist="12700" dir="5400000">
              <a:srgbClr val="0F1E33">
                <a:alpha val="20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777240" y="294436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5C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1325880" y="29443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市場分析 ・ 提案報價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44768" y="3008376"/>
            <a:ext cx="1289304" cy="201168"/>
          </a:xfrm>
          <a:prstGeom prst="roundRect">
            <a:avLst>
              <a:gd name="adj" fmla="val 36364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  <a:effectLst>
            <a:outerShdw sx="100000" sy="100000" kx="0" ky="0" algn="bl" rotWithShape="0" blurRad="38100" dist="12700" dir="5400000">
              <a:srgbClr val="0F1E33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40080" y="3273552"/>
            <a:ext cx="10927080" cy="32918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77240" y="327355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5C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1325880" y="32735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隨訪客戶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507224" y="3337560"/>
            <a:ext cx="1289304" cy="201168"/>
          </a:xfrm>
          <a:prstGeom prst="roundRect">
            <a:avLst>
              <a:gd name="adj" fmla="val 36364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  <a:effectLst>
            <a:outerShdw sx="100000" sy="100000" kx="0" ky="0" algn="bl" rotWithShape="0" blurRad="38100" dist="12700" dir="5400000">
              <a:srgbClr val="0F1E33">
                <a:alpha val="20000"/>
              </a:srgbClr>
            </a:outerShdw>
          </a:effectLst>
        </p:spPr>
      </p:sp>
      <p:sp>
        <p:nvSpPr>
          <p:cNvPr id="54" name="Text 52"/>
          <p:cNvSpPr txBox="1"/>
          <p:nvPr/>
        </p:nvSpPr>
        <p:spPr>
          <a:xfrm>
            <a:off x="777240" y="360273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5C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1325880" y="36027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獨立拜訪 ・ 正式提案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9550908" y="3666744"/>
            <a:ext cx="1289304" cy="201168"/>
          </a:xfrm>
          <a:prstGeom prst="roundRect">
            <a:avLst>
              <a:gd name="adj" fmla="val 36364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  <a:effectLst>
            <a:outerShdw sx="100000" sy="100000" kx="0" ky="0" algn="bl" rotWithShape="0" blurRad="38100" dist="12700" dir="5400000">
              <a:srgbClr val="0F1E33">
                <a:alpha val="2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40080" y="3931920"/>
            <a:ext cx="10927080" cy="32918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77240" y="393192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1325880" y="39319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控制器 ・ 安裝調校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144768" y="3995928"/>
            <a:ext cx="1289304" cy="201168"/>
          </a:xfrm>
          <a:prstGeom prst="roundRect">
            <a:avLst>
              <a:gd name="adj" fmla="val 36364"/>
            </a:avLst>
          </a:prstGeom>
          <a:solidFill>
            <a:srgbClr val="E8762E"/>
          </a:solidFill>
          <a:ln w="12700">
            <a:solidFill>
              <a:srgbClr val="E8762E"/>
            </a:solidFill>
            <a:prstDash val="solid"/>
          </a:ln>
          <a:effectLst>
            <a:outerShdw sx="100000" sy="100000" kx="0" ky="0" algn="bl" rotWithShape="0" blurRad="38100" dist="12700" dir="5400000">
              <a:srgbClr val="0F1E33">
                <a:alpha val="20000"/>
              </a:srgbClr>
            </a:outerShdw>
          </a:effectLst>
        </p:spPr>
      </p:sp>
      <p:sp>
        <p:nvSpPr>
          <p:cNvPr id="61" name="Text 59"/>
          <p:cNvSpPr txBox="1"/>
          <p:nvPr/>
        </p:nvSpPr>
        <p:spPr>
          <a:xfrm>
            <a:off x="777240" y="426110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1325880" y="426110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保養實作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7507224" y="4325112"/>
            <a:ext cx="1289304" cy="201168"/>
          </a:xfrm>
          <a:prstGeom prst="roundRect">
            <a:avLst>
              <a:gd name="adj" fmla="val 36364"/>
            </a:avLst>
          </a:prstGeom>
          <a:solidFill>
            <a:srgbClr val="E8762E"/>
          </a:solidFill>
          <a:ln w="12700">
            <a:solidFill>
              <a:srgbClr val="E8762E"/>
            </a:solidFill>
            <a:prstDash val="solid"/>
          </a:ln>
          <a:effectLst>
            <a:outerShdw sx="100000" sy="100000" kx="0" ky="0" algn="bl" rotWithShape="0" blurRad="38100" dist="12700" dir="5400000">
              <a:srgbClr val="0F1E33">
                <a:alpha val="2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40080" y="4590288"/>
            <a:ext cx="10927080" cy="32918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77240" y="459028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1325880" y="45902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故障排除 ・ 獨立服務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9550908" y="4654296"/>
            <a:ext cx="1289304" cy="201168"/>
          </a:xfrm>
          <a:prstGeom prst="roundRect">
            <a:avLst>
              <a:gd name="adj" fmla="val 36364"/>
            </a:avLst>
          </a:prstGeom>
          <a:solidFill>
            <a:srgbClr val="E8762E"/>
          </a:solidFill>
          <a:ln w="12700">
            <a:solidFill>
              <a:srgbClr val="E8762E"/>
            </a:solidFill>
            <a:prstDash val="solid"/>
          </a:ln>
          <a:effectLst>
            <a:outerShdw sx="100000" sy="100000" kx="0" ky="0" algn="bl" rotWithShape="0" blurRad="38100" dist="12700" dir="5400000">
              <a:srgbClr val="0F1E33">
                <a:alpha val="20000"/>
              </a:srgbClr>
            </a:outerShdw>
          </a:effectLst>
        </p:spPr>
      </p:sp>
      <p:sp>
        <p:nvSpPr>
          <p:cNvPr id="68" name="Text 66"/>
          <p:cNvSpPr txBox="1"/>
          <p:nvPr/>
        </p:nvSpPr>
        <p:spPr>
          <a:xfrm>
            <a:off x="777240" y="49194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1325880" y="4919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原廠／進階課程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8869680" y="4983480"/>
            <a:ext cx="608076" cy="201168"/>
          </a:xfrm>
          <a:prstGeom prst="roundRect">
            <a:avLst>
              <a:gd name="adj" fmla="val 36364"/>
            </a:avLst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  <a:effectLst>
            <a:outerShdw sx="100000" sy="100000" kx="0" ky="0" algn="bl" rotWithShape="0" blurRad="38100" dist="12700" dir="5400000">
              <a:srgbClr val="0F1E33">
                <a:alpha val="2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40080" y="5248656"/>
            <a:ext cx="10927080" cy="32918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77240" y="524865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1325880" y="52486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成果發表 ・ 結訓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10913364" y="5312664"/>
            <a:ext cx="608076" cy="201168"/>
          </a:xfrm>
          <a:prstGeom prst="roundRect">
            <a:avLst>
              <a:gd name="adj" fmla="val 36364"/>
            </a:avLst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  <a:effectLst>
            <a:outerShdw sx="100000" sy="100000" kx="0" ky="0" algn="bl" rotWithShape="0" blurRad="38100" dist="12700" dir="5400000">
              <a:srgbClr val="0F1E33">
                <a:alpha val="2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3383280" y="1956816"/>
            <a:ext cx="0" cy="3621024"/>
          </a:xfrm>
          <a:prstGeom prst="line">
            <a:avLst/>
          </a:prstGeom>
          <a:noFill/>
          <a:ln w="9525">
            <a:solidFill>
              <a:srgbClr val="E1E6E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064508" y="1956816"/>
            <a:ext cx="0" cy="3621024"/>
          </a:xfrm>
          <a:prstGeom prst="line">
            <a:avLst/>
          </a:prstGeom>
          <a:noFill/>
          <a:ln w="9525">
            <a:solidFill>
              <a:srgbClr val="E1E6E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45736" y="1956816"/>
            <a:ext cx="0" cy="3621024"/>
          </a:xfrm>
          <a:prstGeom prst="line">
            <a:avLst/>
          </a:prstGeom>
          <a:noFill/>
          <a:ln w="9525">
            <a:solidFill>
              <a:srgbClr val="E1E6E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426964" y="1956816"/>
            <a:ext cx="0" cy="3621024"/>
          </a:xfrm>
          <a:prstGeom prst="line">
            <a:avLst/>
          </a:prstGeom>
          <a:noFill/>
          <a:ln w="9525">
            <a:solidFill>
              <a:srgbClr val="E1E6E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108192" y="1956816"/>
            <a:ext cx="0" cy="3621024"/>
          </a:xfrm>
          <a:prstGeom prst="line">
            <a:avLst/>
          </a:prstGeom>
          <a:noFill/>
          <a:ln w="9525">
            <a:solidFill>
              <a:srgbClr val="E1E6E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89420" y="1956816"/>
            <a:ext cx="0" cy="3621024"/>
          </a:xfrm>
          <a:prstGeom prst="line">
            <a:avLst/>
          </a:prstGeom>
          <a:noFill/>
          <a:ln w="9525">
            <a:solidFill>
              <a:srgbClr val="E1E6E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70648" y="1956816"/>
            <a:ext cx="0" cy="3621024"/>
          </a:xfrm>
          <a:prstGeom prst="line">
            <a:avLst/>
          </a:prstGeom>
          <a:noFill/>
          <a:ln w="9525">
            <a:solidFill>
              <a:srgbClr val="E1E6E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151876" y="1956816"/>
            <a:ext cx="0" cy="3621024"/>
          </a:xfrm>
          <a:prstGeom prst="line">
            <a:avLst/>
          </a:prstGeom>
          <a:noFill/>
          <a:ln w="9525">
            <a:solidFill>
              <a:srgbClr val="E1E6E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833104" y="1956816"/>
            <a:ext cx="0" cy="3621024"/>
          </a:xfrm>
          <a:prstGeom prst="line">
            <a:avLst/>
          </a:prstGeom>
          <a:noFill/>
          <a:ln w="9525">
            <a:solidFill>
              <a:srgbClr val="E1E6E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514332" y="1956816"/>
            <a:ext cx="0" cy="3621024"/>
          </a:xfrm>
          <a:prstGeom prst="line">
            <a:avLst/>
          </a:prstGeom>
          <a:noFill/>
          <a:ln w="9525">
            <a:solidFill>
              <a:srgbClr val="E1E6E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195560" y="1956816"/>
            <a:ext cx="0" cy="3621024"/>
          </a:xfrm>
          <a:prstGeom prst="line">
            <a:avLst/>
          </a:prstGeom>
          <a:noFill/>
          <a:ln w="9525">
            <a:solidFill>
              <a:srgbClr val="E1E6E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876788" y="1956816"/>
            <a:ext cx="0" cy="3621024"/>
          </a:xfrm>
          <a:prstGeom prst="line">
            <a:avLst/>
          </a:prstGeom>
          <a:noFill/>
          <a:ln w="9525">
            <a:solidFill>
              <a:srgbClr val="E1E6E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558016" y="1956816"/>
            <a:ext cx="0" cy="3621024"/>
          </a:xfrm>
          <a:prstGeom prst="line">
            <a:avLst/>
          </a:prstGeom>
          <a:noFill/>
          <a:ln w="9525">
            <a:solidFill>
              <a:srgbClr val="E1E6EC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777240" y="5687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3909060" y="5733288"/>
            <a:ext cx="274320" cy="274320"/>
          </a:xfrm>
          <a:prstGeom prst="diamond">
            <a:avLst/>
          </a:prstGeom>
          <a:solidFill>
            <a:srgbClr val="2F8F63"/>
          </a:solidFill>
          <a:ln w="12700">
            <a:solidFill>
              <a:srgbClr val="2F8F63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3497580" y="6016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7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633972" y="5733288"/>
            <a:ext cx="274320" cy="274320"/>
          </a:xfrm>
          <a:prstGeom prst="diamond">
            <a:avLst/>
          </a:prstGeom>
          <a:solidFill>
            <a:srgbClr val="2F8F63"/>
          </a:solidFill>
          <a:ln w="12700">
            <a:solidFill>
              <a:srgbClr val="2F8F63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6222492" y="6016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30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8677656" y="5733288"/>
            <a:ext cx="274320" cy="274320"/>
          </a:xfrm>
          <a:prstGeom prst="diamond">
            <a:avLst/>
          </a:prstGeom>
          <a:solidFill>
            <a:srgbClr val="2F8F63"/>
          </a:solidFill>
          <a:ln w="12700">
            <a:solidFill>
              <a:srgbClr val="2F8F63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8266176" y="6016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60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11402568" y="5733288"/>
            <a:ext cx="274320" cy="274320"/>
          </a:xfrm>
          <a:prstGeom prst="diamond">
            <a:avLst/>
          </a:prstGeom>
          <a:solidFill>
            <a:srgbClr val="2F8F63"/>
          </a:solidFill>
          <a:ln w="12700">
            <a:solidFill>
              <a:srgbClr val="2F8F63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10991088" y="6016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90</a:t>
            </a:r>
            <a:endParaRPr lang="en-US" sz="950" dirty="0"/>
          </a:p>
        </p:txBody>
      </p:sp>
      <p:sp>
        <p:nvSpPr>
          <p:cNvPr id="97" name="Text 9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HIRE ONBOARDING PROGRAM  ·  90 DAYS</a:t>
            </a:r>
            <a:endParaRPr lang="en-US" sz="850" dirty="0"/>
          </a:p>
        </p:txBody>
      </p:sp>
      <p:sp>
        <p:nvSpPr>
          <p:cNvPr id="98" name="Text 96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7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CROSS-FUNCTIONAL ROTATION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業務／技術輪調排版表（第 2–4 週）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270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91640"/>
                <a:gridCol w="2048256"/>
                <a:gridCol w="2039112"/>
                <a:gridCol w="2039112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輪調站別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站別負責人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2 週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3 週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4 週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  展示中心（Demo／操作）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7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展示中心主管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5C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 B1 B2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5C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 B3 B4 B5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76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技術 T3 T4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  技術服務部（保養／裝機）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7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技術主管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76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技術 T1 T2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5C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 B1 B2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5C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 B3 B4 B5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  零件倉／內勤（料號／報價）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7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倉管／內勤主管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5C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 B3 B4 B5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76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技術 T1 T2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5C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 B1 B2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  業務部（隨訪／客戶需求）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7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業務主管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76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技術 T3 T4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76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技術 T3 T4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76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技術 T1 T2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892040"/>
            <a:ext cx="352044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E1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0F1E33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5074920"/>
            <a:ext cx="502920" cy="50292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5200650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029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C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 5 人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56235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分兩組（B1–B2、B3–B5），三週輪完 A、B、C 三站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343400" y="4892040"/>
            <a:ext cx="352044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E1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0F1E33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26280" y="5074920"/>
            <a:ext cx="502920" cy="502920"/>
          </a:xfrm>
          <a:prstGeom prst="ellipse">
            <a:avLst/>
          </a:prstGeom>
          <a:solidFill>
            <a:srgbClr val="E8762E"/>
          </a:solidFill>
          <a:ln w="12700">
            <a:solidFill>
              <a:srgbClr val="E8762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010" y="520065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66360" y="5029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 4 人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4526280" y="56235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T1–T2 輪 B、C、D 三站；T3–T4 業務部兩週後至展示中心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8046720" y="4892040"/>
            <a:ext cx="352044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E1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0F1E33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29600" y="5074920"/>
            <a:ext cx="502920" cy="502920"/>
          </a:xfrm>
          <a:prstGeom prst="ellipse">
            <a:avLst/>
          </a:prstGeom>
          <a:solidFill>
            <a:srgbClr val="2F8F63"/>
          </a:solidFill>
          <a:ln w="12700">
            <a:solidFill>
              <a:srgbClr val="2F8F6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520065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869680" y="5029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F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站別規則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8229600" y="56235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每站週五由站別負責人於學習護照簽章；週一換站前交上一站心得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HIRE ONBOARDING PROGRAM  ·  90 DAYS</a:t>
            </a:r>
            <a:endParaRPr lang="en-US" sz="850" dirty="0"/>
          </a:p>
        </p:txBody>
      </p:sp>
      <p:sp>
        <p:nvSpPr>
          <p:cNvPr id="21" name="Text 15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7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PASSPORT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學習護照（每人一本，集滿 10 章結訓）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49240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E1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0F1E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5349240" cy="640080"/>
          </a:xfrm>
          <a:prstGeom prst="roundRect">
            <a:avLst>
              <a:gd name="adj" fmla="val 20000"/>
            </a:avLst>
          </a:prstGeom>
          <a:solidFill>
            <a:srgbClr val="E7EFF8"/>
          </a:solidFill>
          <a:ln w="12700">
            <a:solidFill>
              <a:srgbClr val="E7EF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5349240" cy="274320"/>
          </a:xfrm>
          <a:prstGeom prst="rect">
            <a:avLst/>
          </a:prstGeom>
          <a:solidFill>
            <a:srgbClr val="E7EFF8"/>
          </a:solidFill>
          <a:ln w="12700">
            <a:solidFill>
              <a:srgbClr val="E7EF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72768"/>
            <a:ext cx="420624" cy="420624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677924"/>
            <a:ext cx="210312" cy="2103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463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C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業務組  ・  10 章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項目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402336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簽章人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1828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日期／簽章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68680" y="2249424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5C8A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86868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22128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公司制度與安全教育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023360" y="22128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人資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92040" y="2487168"/>
            <a:ext cx="91440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8680" y="258775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5C8A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25511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三大產品型錄研讀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023360" y="25511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導師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892040" y="2825496"/>
            <a:ext cx="91440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68680" y="2926080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5C8A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86868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1371600" y="28895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週測驗合格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4023360" y="28895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導師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892040" y="3163824"/>
            <a:ext cx="91440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68680" y="326440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5C8A"/>
            </a:solidFill>
            <a:prstDash val="dash"/>
          </a:ln>
        </p:spPr>
      </p:sp>
      <p:sp>
        <p:nvSpPr>
          <p:cNvPr id="29" name="Text 26"/>
          <p:cNvSpPr txBox="1"/>
          <p:nvPr/>
        </p:nvSpPr>
        <p:spPr>
          <a:xfrm>
            <a:off x="868680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1371600" y="32278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部門輪調 3 站完成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4023360" y="3227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站別負責人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892040" y="3502152"/>
            <a:ext cx="91440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8680" y="3602736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5C8A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868680" y="3602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1371600" y="35661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30 產品筆試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4023360" y="35661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訓練負責人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892040" y="3840480"/>
            <a:ext cx="91440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68680" y="3941064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5C8A"/>
            </a:solidFill>
            <a:prstDash val="dash"/>
          </a:ln>
        </p:spPr>
      </p:sp>
      <p:sp>
        <p:nvSpPr>
          <p:cNvPr id="39" name="Text 36"/>
          <p:cNvSpPr txBox="1"/>
          <p:nvPr/>
        </p:nvSpPr>
        <p:spPr>
          <a:xfrm>
            <a:off x="868680" y="3941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1371600" y="39044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隨訪客戶 6 家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4023360" y="39044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資深業務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4892040" y="4178808"/>
            <a:ext cx="91440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68680" y="427939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5C8A"/>
            </a:solidFill>
            <a:prstDash val="dash"/>
          </a:ln>
        </p:spPr>
      </p:sp>
      <p:sp>
        <p:nvSpPr>
          <p:cNvPr id="44" name="Text 41"/>
          <p:cNvSpPr txBox="1"/>
          <p:nvPr/>
        </p:nvSpPr>
        <p:spPr>
          <a:xfrm>
            <a:off x="86868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45" name="Text 42"/>
          <p:cNvSpPr txBox="1"/>
          <p:nvPr/>
        </p:nvSpPr>
        <p:spPr>
          <a:xfrm>
            <a:off x="1371600" y="42428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60 角色扮演考核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4023360" y="42428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訓練負責人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4892040" y="4517136"/>
            <a:ext cx="91440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68680" y="4617720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5C8A"/>
            </a:solidFill>
            <a:prstDash val="dash"/>
          </a:ln>
        </p:spPr>
      </p:sp>
      <p:sp>
        <p:nvSpPr>
          <p:cNvPr id="49" name="Text 46"/>
          <p:cNvSpPr txBox="1"/>
          <p:nvPr/>
        </p:nvSpPr>
        <p:spPr>
          <a:xfrm>
            <a:off x="86868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50" name="Text 47"/>
          <p:cNvSpPr txBox="1"/>
          <p:nvPr/>
        </p:nvSpPr>
        <p:spPr>
          <a:xfrm>
            <a:off x="1371600" y="45811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原廠銷售課程</a:t>
            </a:r>
            <a:endParaRPr lang="en-US" sz="1050" dirty="0"/>
          </a:p>
        </p:txBody>
      </p:sp>
      <p:sp>
        <p:nvSpPr>
          <p:cNvPr id="51" name="Text 48"/>
          <p:cNvSpPr txBox="1"/>
          <p:nvPr/>
        </p:nvSpPr>
        <p:spPr>
          <a:xfrm>
            <a:off x="4023360" y="45811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原廠講師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4892040" y="4855464"/>
            <a:ext cx="91440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68680" y="495604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5C8A"/>
            </a:solidFill>
            <a:prstDash val="dash"/>
          </a:ln>
        </p:spPr>
      </p:sp>
      <p:sp>
        <p:nvSpPr>
          <p:cNvPr id="54" name="Text 51"/>
          <p:cNvSpPr txBox="1"/>
          <p:nvPr/>
        </p:nvSpPr>
        <p:spPr>
          <a:xfrm>
            <a:off x="868680" y="4956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  <p:sp>
        <p:nvSpPr>
          <p:cNvPr id="55" name="Text 52"/>
          <p:cNvSpPr txBox="1"/>
          <p:nvPr/>
        </p:nvSpPr>
        <p:spPr>
          <a:xfrm>
            <a:off x="1371600" y="49194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獨立拜訪 5 家 ＋ 正式提案 1 份</a:t>
            </a:r>
            <a:endParaRPr lang="en-US" sz="1050" dirty="0"/>
          </a:p>
        </p:txBody>
      </p:sp>
      <p:sp>
        <p:nvSpPr>
          <p:cNvPr id="56" name="Text 53"/>
          <p:cNvSpPr txBox="1"/>
          <p:nvPr/>
        </p:nvSpPr>
        <p:spPr>
          <a:xfrm>
            <a:off x="4023360" y="49194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業務主管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892040" y="5193792"/>
            <a:ext cx="91440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68680" y="5294376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5C8A"/>
            </a:solidFill>
            <a:prstDash val="dash"/>
          </a:ln>
        </p:spPr>
      </p:sp>
      <p:sp>
        <p:nvSpPr>
          <p:cNvPr id="59" name="Text 56"/>
          <p:cNvSpPr txBox="1"/>
          <p:nvPr/>
        </p:nvSpPr>
        <p:spPr>
          <a:xfrm>
            <a:off x="868680" y="5294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60" name="Text 57"/>
          <p:cNvSpPr txBox="1"/>
          <p:nvPr/>
        </p:nvSpPr>
        <p:spPr>
          <a:xfrm>
            <a:off x="1371600" y="52578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90 結訓發表</a:t>
            </a:r>
            <a:endParaRPr lang="en-US" sz="1050" dirty="0"/>
          </a:p>
        </p:txBody>
      </p:sp>
      <p:sp>
        <p:nvSpPr>
          <p:cNvPr id="61" name="Text 58"/>
          <p:cNvSpPr txBox="1"/>
          <p:nvPr/>
        </p:nvSpPr>
        <p:spPr>
          <a:xfrm>
            <a:off x="4023360" y="52578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4892040" y="5532120"/>
            <a:ext cx="91440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217920" y="1463040"/>
            <a:ext cx="5349240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E1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0F1E33">
                <a:alpha val="1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6217920" y="1463040"/>
            <a:ext cx="5349240" cy="640080"/>
          </a:xfrm>
          <a:prstGeom prst="roundRect">
            <a:avLst>
              <a:gd name="adj" fmla="val 20000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6217920" y="1828800"/>
            <a:ext cx="5349240" cy="274320"/>
          </a:xfrm>
          <a:prstGeom prst="rect">
            <a:avLst/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6400800" y="1572768"/>
            <a:ext cx="420624" cy="420624"/>
          </a:xfrm>
          <a:prstGeom prst="ellipse">
            <a:avLst/>
          </a:prstGeom>
          <a:solidFill>
            <a:srgbClr val="E8762E"/>
          </a:solidFill>
          <a:ln w="12700">
            <a:solidFill>
              <a:srgbClr val="E8762E"/>
            </a:solidFill>
            <a:prstDash val="solid"/>
          </a:ln>
        </p:spPr>
      </p:sp>
      <p:pic>
        <p:nvPicPr>
          <p:cNvPr id="6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956" y="1677924"/>
            <a:ext cx="210312" cy="210312"/>
          </a:xfrm>
          <a:prstGeom prst="rect">
            <a:avLst/>
          </a:prstGeom>
        </p:spPr>
      </p:pic>
      <p:sp>
        <p:nvSpPr>
          <p:cNvPr id="68" name="Text 64"/>
          <p:cNvSpPr txBox="1"/>
          <p:nvPr/>
        </p:nvSpPr>
        <p:spPr>
          <a:xfrm>
            <a:off x="6949440" y="1463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技術組  ・  10 章</a:t>
            </a:r>
            <a:endParaRPr lang="en-US" sz="1400" dirty="0"/>
          </a:p>
        </p:txBody>
      </p:sp>
      <p:sp>
        <p:nvSpPr>
          <p:cNvPr id="69" name="Text 65"/>
          <p:cNvSpPr txBox="1"/>
          <p:nvPr/>
        </p:nvSpPr>
        <p:spPr>
          <a:xfrm>
            <a:off x="694944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項目</a:t>
            </a:r>
            <a:endParaRPr lang="en-US" sz="900" dirty="0"/>
          </a:p>
        </p:txBody>
      </p:sp>
      <p:sp>
        <p:nvSpPr>
          <p:cNvPr id="70" name="Text 66"/>
          <p:cNvSpPr txBox="1"/>
          <p:nvPr/>
        </p:nvSpPr>
        <p:spPr>
          <a:xfrm>
            <a:off x="960120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簽章人</a:t>
            </a:r>
            <a:endParaRPr lang="en-US" sz="900" dirty="0"/>
          </a:p>
        </p:txBody>
      </p:sp>
      <p:sp>
        <p:nvSpPr>
          <p:cNvPr id="71" name="Text 67"/>
          <p:cNvSpPr txBox="1"/>
          <p:nvPr/>
        </p:nvSpPr>
        <p:spPr>
          <a:xfrm>
            <a:off x="10469880" y="1828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日期／簽章</a:t>
            </a:r>
            <a:endParaRPr lang="en-US" sz="900" dirty="0"/>
          </a:p>
        </p:txBody>
      </p:sp>
      <p:sp>
        <p:nvSpPr>
          <p:cNvPr id="72" name="Shape 68"/>
          <p:cNvSpPr/>
          <p:nvPr/>
        </p:nvSpPr>
        <p:spPr>
          <a:xfrm>
            <a:off x="6446520" y="2249424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762E"/>
            </a:solidFill>
            <a:prstDash val="dash"/>
          </a:ln>
        </p:spPr>
      </p:sp>
      <p:sp>
        <p:nvSpPr>
          <p:cNvPr id="73" name="Text 69"/>
          <p:cNvSpPr txBox="1"/>
          <p:nvPr/>
        </p:nvSpPr>
        <p:spPr>
          <a:xfrm>
            <a:off x="644652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7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74" name="Text 70"/>
          <p:cNvSpPr txBox="1"/>
          <p:nvPr/>
        </p:nvSpPr>
        <p:spPr>
          <a:xfrm>
            <a:off x="6949440" y="22128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公司制度與安全教育</a:t>
            </a:r>
            <a:endParaRPr lang="en-US" sz="1050" dirty="0"/>
          </a:p>
        </p:txBody>
      </p:sp>
      <p:sp>
        <p:nvSpPr>
          <p:cNvPr id="75" name="Text 71"/>
          <p:cNvSpPr txBox="1"/>
          <p:nvPr/>
        </p:nvSpPr>
        <p:spPr>
          <a:xfrm>
            <a:off x="9601200" y="22128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人資</a:t>
            </a:r>
            <a:endParaRPr lang="en-US" sz="950" dirty="0"/>
          </a:p>
        </p:txBody>
      </p:sp>
      <p:sp>
        <p:nvSpPr>
          <p:cNvPr id="76" name="Shape 72"/>
          <p:cNvSpPr/>
          <p:nvPr/>
        </p:nvSpPr>
        <p:spPr>
          <a:xfrm>
            <a:off x="10469880" y="2487168"/>
            <a:ext cx="91440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6446520" y="258775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762E"/>
            </a:solidFill>
            <a:prstDash val="dash"/>
          </a:ln>
        </p:spPr>
      </p:sp>
      <p:sp>
        <p:nvSpPr>
          <p:cNvPr id="78" name="Text 74"/>
          <p:cNvSpPr txBox="1"/>
          <p:nvPr/>
        </p:nvSpPr>
        <p:spPr>
          <a:xfrm>
            <a:off x="644652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7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79" name="Text 75"/>
          <p:cNvSpPr txBox="1"/>
          <p:nvPr/>
        </p:nvSpPr>
        <p:spPr>
          <a:xfrm>
            <a:off x="6949440" y="25511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三大產品型錄研讀</a:t>
            </a:r>
            <a:endParaRPr lang="en-US" sz="1050" dirty="0"/>
          </a:p>
        </p:txBody>
      </p:sp>
      <p:sp>
        <p:nvSpPr>
          <p:cNvPr id="80" name="Text 76"/>
          <p:cNvSpPr txBox="1"/>
          <p:nvPr/>
        </p:nvSpPr>
        <p:spPr>
          <a:xfrm>
            <a:off x="9601200" y="25511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導師</a:t>
            </a:r>
            <a:endParaRPr lang="en-US" sz="950" dirty="0"/>
          </a:p>
        </p:txBody>
      </p:sp>
      <p:sp>
        <p:nvSpPr>
          <p:cNvPr id="81" name="Shape 77"/>
          <p:cNvSpPr/>
          <p:nvPr/>
        </p:nvSpPr>
        <p:spPr>
          <a:xfrm>
            <a:off x="10469880" y="2825496"/>
            <a:ext cx="91440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6446520" y="2926080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762E"/>
            </a:solidFill>
            <a:prstDash val="dash"/>
          </a:ln>
        </p:spPr>
      </p:sp>
      <p:sp>
        <p:nvSpPr>
          <p:cNvPr id="83" name="Text 79"/>
          <p:cNvSpPr txBox="1"/>
          <p:nvPr/>
        </p:nvSpPr>
        <p:spPr>
          <a:xfrm>
            <a:off x="644652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7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84" name="Text 80"/>
          <p:cNvSpPr txBox="1"/>
          <p:nvPr/>
        </p:nvSpPr>
        <p:spPr>
          <a:xfrm>
            <a:off x="6949440" y="28895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週測驗合格</a:t>
            </a:r>
            <a:endParaRPr lang="en-US" sz="1050" dirty="0"/>
          </a:p>
        </p:txBody>
      </p:sp>
      <p:sp>
        <p:nvSpPr>
          <p:cNvPr id="85" name="Text 81"/>
          <p:cNvSpPr txBox="1"/>
          <p:nvPr/>
        </p:nvSpPr>
        <p:spPr>
          <a:xfrm>
            <a:off x="9601200" y="28895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導師</a:t>
            </a:r>
            <a:endParaRPr lang="en-US" sz="950" dirty="0"/>
          </a:p>
        </p:txBody>
      </p:sp>
      <p:sp>
        <p:nvSpPr>
          <p:cNvPr id="86" name="Shape 82"/>
          <p:cNvSpPr/>
          <p:nvPr/>
        </p:nvSpPr>
        <p:spPr>
          <a:xfrm>
            <a:off x="10469880" y="3163824"/>
            <a:ext cx="91440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6446520" y="326440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762E"/>
            </a:solidFill>
            <a:prstDash val="dash"/>
          </a:ln>
        </p:spPr>
      </p:sp>
      <p:sp>
        <p:nvSpPr>
          <p:cNvPr id="88" name="Text 84"/>
          <p:cNvSpPr txBox="1"/>
          <p:nvPr/>
        </p:nvSpPr>
        <p:spPr>
          <a:xfrm>
            <a:off x="6446520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7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89" name="Text 85"/>
          <p:cNvSpPr txBox="1"/>
          <p:nvPr/>
        </p:nvSpPr>
        <p:spPr>
          <a:xfrm>
            <a:off x="6949440" y="32278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部門輪調 3 站完成</a:t>
            </a:r>
            <a:endParaRPr lang="en-US" sz="1050" dirty="0"/>
          </a:p>
        </p:txBody>
      </p:sp>
      <p:sp>
        <p:nvSpPr>
          <p:cNvPr id="90" name="Text 86"/>
          <p:cNvSpPr txBox="1"/>
          <p:nvPr/>
        </p:nvSpPr>
        <p:spPr>
          <a:xfrm>
            <a:off x="9601200" y="3227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站別負責人</a:t>
            </a:r>
            <a:endParaRPr lang="en-US" sz="950" dirty="0"/>
          </a:p>
        </p:txBody>
      </p:sp>
      <p:sp>
        <p:nvSpPr>
          <p:cNvPr id="91" name="Shape 87"/>
          <p:cNvSpPr/>
          <p:nvPr/>
        </p:nvSpPr>
        <p:spPr>
          <a:xfrm>
            <a:off x="10469880" y="3502152"/>
            <a:ext cx="91440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6446520" y="3602736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762E"/>
            </a:solidFill>
            <a:prstDash val="dash"/>
          </a:ln>
        </p:spPr>
      </p:sp>
      <p:sp>
        <p:nvSpPr>
          <p:cNvPr id="93" name="Text 89"/>
          <p:cNvSpPr txBox="1"/>
          <p:nvPr/>
        </p:nvSpPr>
        <p:spPr>
          <a:xfrm>
            <a:off x="6446520" y="3602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7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94" name="Text 90"/>
          <p:cNvSpPr txBox="1"/>
          <p:nvPr/>
        </p:nvSpPr>
        <p:spPr>
          <a:xfrm>
            <a:off x="6949440" y="35661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30 產品筆試</a:t>
            </a:r>
            <a:endParaRPr lang="en-US" sz="1050" dirty="0"/>
          </a:p>
        </p:txBody>
      </p:sp>
      <p:sp>
        <p:nvSpPr>
          <p:cNvPr id="95" name="Text 91"/>
          <p:cNvSpPr txBox="1"/>
          <p:nvPr/>
        </p:nvSpPr>
        <p:spPr>
          <a:xfrm>
            <a:off x="9601200" y="35661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訓練負責人</a:t>
            </a:r>
            <a:endParaRPr lang="en-US" sz="950" dirty="0"/>
          </a:p>
        </p:txBody>
      </p:sp>
      <p:sp>
        <p:nvSpPr>
          <p:cNvPr id="96" name="Shape 92"/>
          <p:cNvSpPr/>
          <p:nvPr/>
        </p:nvSpPr>
        <p:spPr>
          <a:xfrm>
            <a:off x="10469880" y="3840480"/>
            <a:ext cx="91440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6446520" y="3941064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762E"/>
            </a:solidFill>
            <a:prstDash val="dash"/>
          </a:ln>
        </p:spPr>
      </p:sp>
      <p:sp>
        <p:nvSpPr>
          <p:cNvPr id="98" name="Text 94"/>
          <p:cNvSpPr txBox="1"/>
          <p:nvPr/>
        </p:nvSpPr>
        <p:spPr>
          <a:xfrm>
            <a:off x="6446520" y="3941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7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99" name="Text 95"/>
          <p:cNvSpPr txBox="1"/>
          <p:nvPr/>
        </p:nvSpPr>
        <p:spPr>
          <a:xfrm>
            <a:off x="6949440" y="39044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隨師裝機 1 台 ＋ 保養 3 台</a:t>
            </a:r>
            <a:endParaRPr lang="en-US" sz="1050" dirty="0"/>
          </a:p>
        </p:txBody>
      </p:sp>
      <p:sp>
        <p:nvSpPr>
          <p:cNvPr id="100" name="Text 96"/>
          <p:cNvSpPr txBox="1"/>
          <p:nvPr/>
        </p:nvSpPr>
        <p:spPr>
          <a:xfrm>
            <a:off x="9601200" y="39044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資深技師</a:t>
            </a:r>
            <a:endParaRPr lang="en-US" sz="950" dirty="0"/>
          </a:p>
        </p:txBody>
      </p:sp>
      <p:sp>
        <p:nvSpPr>
          <p:cNvPr id="101" name="Shape 97"/>
          <p:cNvSpPr/>
          <p:nvPr/>
        </p:nvSpPr>
        <p:spPr>
          <a:xfrm>
            <a:off x="10469880" y="4178808"/>
            <a:ext cx="91440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6446520" y="427939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762E"/>
            </a:solidFill>
            <a:prstDash val="dash"/>
          </a:ln>
        </p:spPr>
      </p:sp>
      <p:sp>
        <p:nvSpPr>
          <p:cNvPr id="103" name="Text 99"/>
          <p:cNvSpPr txBox="1"/>
          <p:nvPr/>
        </p:nvSpPr>
        <p:spPr>
          <a:xfrm>
            <a:off x="644652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7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104" name="Text 100"/>
          <p:cNvSpPr txBox="1"/>
          <p:nvPr/>
        </p:nvSpPr>
        <p:spPr>
          <a:xfrm>
            <a:off x="6949440" y="42428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60 實作考核</a:t>
            </a:r>
            <a:endParaRPr lang="en-US" sz="1050" dirty="0"/>
          </a:p>
        </p:txBody>
      </p:sp>
      <p:sp>
        <p:nvSpPr>
          <p:cNvPr id="105" name="Text 101"/>
          <p:cNvSpPr txBox="1"/>
          <p:nvPr/>
        </p:nvSpPr>
        <p:spPr>
          <a:xfrm>
            <a:off x="9601200" y="42428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訓練負責人</a:t>
            </a:r>
            <a:endParaRPr lang="en-US" sz="950" dirty="0"/>
          </a:p>
        </p:txBody>
      </p:sp>
      <p:sp>
        <p:nvSpPr>
          <p:cNvPr id="106" name="Shape 102"/>
          <p:cNvSpPr/>
          <p:nvPr/>
        </p:nvSpPr>
        <p:spPr>
          <a:xfrm>
            <a:off x="10469880" y="4517136"/>
            <a:ext cx="91440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6446520" y="4617720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762E"/>
            </a:solidFill>
            <a:prstDash val="dash"/>
          </a:ln>
        </p:spPr>
      </p:sp>
      <p:sp>
        <p:nvSpPr>
          <p:cNvPr id="108" name="Text 104"/>
          <p:cNvSpPr txBox="1"/>
          <p:nvPr/>
        </p:nvSpPr>
        <p:spPr>
          <a:xfrm>
            <a:off x="644652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7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109" name="Text 105"/>
          <p:cNvSpPr txBox="1"/>
          <p:nvPr/>
        </p:nvSpPr>
        <p:spPr>
          <a:xfrm>
            <a:off x="6949440" y="45811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原廠技術課程</a:t>
            </a:r>
            <a:endParaRPr lang="en-US" sz="1050" dirty="0"/>
          </a:p>
        </p:txBody>
      </p:sp>
      <p:sp>
        <p:nvSpPr>
          <p:cNvPr id="110" name="Text 106"/>
          <p:cNvSpPr txBox="1"/>
          <p:nvPr/>
        </p:nvSpPr>
        <p:spPr>
          <a:xfrm>
            <a:off x="9601200" y="45811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原廠講師</a:t>
            </a:r>
            <a:endParaRPr lang="en-US" sz="950" dirty="0"/>
          </a:p>
        </p:txBody>
      </p:sp>
      <p:sp>
        <p:nvSpPr>
          <p:cNvPr id="111" name="Shape 107"/>
          <p:cNvSpPr/>
          <p:nvPr/>
        </p:nvSpPr>
        <p:spPr>
          <a:xfrm>
            <a:off x="10469880" y="4855464"/>
            <a:ext cx="91440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6446520" y="495604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762E"/>
            </a:solidFill>
            <a:prstDash val="dash"/>
          </a:ln>
        </p:spPr>
      </p:sp>
      <p:sp>
        <p:nvSpPr>
          <p:cNvPr id="113" name="Text 109"/>
          <p:cNvSpPr txBox="1"/>
          <p:nvPr/>
        </p:nvSpPr>
        <p:spPr>
          <a:xfrm>
            <a:off x="6446520" y="4956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7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  <p:sp>
        <p:nvSpPr>
          <p:cNvPr id="114" name="Text 110"/>
          <p:cNvSpPr txBox="1"/>
          <p:nvPr/>
        </p:nvSpPr>
        <p:spPr>
          <a:xfrm>
            <a:off x="6949440" y="49194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獨立服務案件 3 件</a:t>
            </a:r>
            <a:endParaRPr lang="en-US" sz="1050" dirty="0"/>
          </a:p>
        </p:txBody>
      </p:sp>
      <p:sp>
        <p:nvSpPr>
          <p:cNvPr id="115" name="Text 111"/>
          <p:cNvSpPr txBox="1"/>
          <p:nvPr/>
        </p:nvSpPr>
        <p:spPr>
          <a:xfrm>
            <a:off x="9601200" y="49194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技術主管</a:t>
            </a:r>
            <a:endParaRPr lang="en-US" sz="950" dirty="0"/>
          </a:p>
        </p:txBody>
      </p:sp>
      <p:sp>
        <p:nvSpPr>
          <p:cNvPr id="116" name="Shape 112"/>
          <p:cNvSpPr/>
          <p:nvPr/>
        </p:nvSpPr>
        <p:spPr>
          <a:xfrm>
            <a:off x="10469880" y="5193792"/>
            <a:ext cx="91440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6446520" y="5294376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762E"/>
            </a:solidFill>
            <a:prstDash val="dash"/>
          </a:ln>
        </p:spPr>
      </p:sp>
      <p:sp>
        <p:nvSpPr>
          <p:cNvPr id="118" name="Text 114"/>
          <p:cNvSpPr txBox="1"/>
          <p:nvPr/>
        </p:nvSpPr>
        <p:spPr>
          <a:xfrm>
            <a:off x="6446520" y="5294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7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119" name="Text 115"/>
          <p:cNvSpPr txBox="1"/>
          <p:nvPr/>
        </p:nvSpPr>
        <p:spPr>
          <a:xfrm>
            <a:off x="6949440" y="52578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90 結訓考核</a:t>
            </a:r>
            <a:endParaRPr lang="en-US" sz="1050" dirty="0"/>
          </a:p>
        </p:txBody>
      </p:sp>
      <p:sp>
        <p:nvSpPr>
          <p:cNvPr id="120" name="Text 116"/>
          <p:cNvSpPr txBox="1"/>
          <p:nvPr/>
        </p:nvSpPr>
        <p:spPr>
          <a:xfrm>
            <a:off x="9601200" y="52578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</a:t>
            </a:r>
            <a:endParaRPr lang="en-US" sz="950" dirty="0"/>
          </a:p>
        </p:txBody>
      </p:sp>
      <p:sp>
        <p:nvSpPr>
          <p:cNvPr id="121" name="Shape 117"/>
          <p:cNvSpPr/>
          <p:nvPr/>
        </p:nvSpPr>
        <p:spPr>
          <a:xfrm>
            <a:off x="10469880" y="5532120"/>
            <a:ext cx="91440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640080" y="5943600"/>
            <a:ext cx="10927080" cy="384048"/>
          </a:xfrm>
          <a:prstGeom prst="roundRect">
            <a:avLst>
              <a:gd name="adj" fmla="val 33333"/>
            </a:avLst>
          </a:prstGeom>
          <a:solidFill>
            <a:srgbClr val="E6F3EC"/>
          </a:solidFill>
          <a:ln w="9525">
            <a:solidFill>
              <a:srgbClr val="E6F3EC"/>
            </a:solidFill>
            <a:prstDash val="solid"/>
          </a:ln>
        </p:spPr>
      </p:sp>
      <p:sp>
        <p:nvSpPr>
          <p:cNvPr id="123" name="Text 119"/>
          <p:cNvSpPr txBox="1"/>
          <p:nvPr/>
        </p:nvSpPr>
        <p:spPr>
          <a:xfrm>
            <a:off x="868680" y="59436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8F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運作方式  </a:t>
            </a:r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完成一項由簽章人簽名；每週五導師檢視護照。集滿 10 章 ＋ 三次考核合格 ＝ 結訓通過，作為轉正依據。</a:t>
            </a:r>
            <a:endParaRPr lang="en-US" sz="1050" dirty="0"/>
          </a:p>
        </p:txBody>
      </p:sp>
      <p:sp>
        <p:nvSpPr>
          <p:cNvPr id="124" name="Text 120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HIRE ONBOARDING PROGRAM  ·  90 DAYS</a:t>
            </a:r>
            <a:endParaRPr lang="en-US" sz="850" dirty="0"/>
          </a:p>
        </p:txBody>
      </p:sp>
      <p:sp>
        <p:nvSpPr>
          <p:cNvPr id="125" name="Text 121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新人 90 天教育訓練計畫</dc:title>
  <dc:subject>PptxGenJS Presentation</dc:subject>
  <dc:creator>PptxGenJS</dc:creator>
  <cp:lastModifiedBy>PptxGenJS</cp:lastModifiedBy>
  <cp:revision>1</cp:revision>
  <dcterms:created xsi:type="dcterms:W3CDTF">2026-09-30T01:11:08Z</dcterms:created>
  <dcterms:modified xsi:type="dcterms:W3CDTF">2026-09-30T01:11:08Z</dcterms:modified>
</cp:coreProperties>
</file>