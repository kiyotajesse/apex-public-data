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新人 90 天教育訓練計畫總覽。對象：業務 5 人、技術 4 人。產品線：Brother、Okuma、射出成型機。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486400" cy="5486400"/>
          </a:xfrm>
          <a:prstGeom prst="ellipse">
            <a:avLst/>
          </a:prstGeom>
          <a:solidFill>
            <a:srgbClr val="2E5C8A">
              <a:alpha val="30000"/>
            </a:srgbClr>
          </a:solidFill>
          <a:ln w="12700">
            <a:solidFill>
              <a:srgbClr val="2E5C8A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2926080"/>
            <a:ext cx="3840480" cy="3840480"/>
          </a:xfrm>
          <a:prstGeom prst="ellipse">
            <a:avLst/>
          </a:prstGeom>
          <a:solidFill>
            <a:srgbClr val="E0712C">
              <a:alpha val="40000"/>
            </a:srgbClr>
          </a:solidFill>
          <a:ln w="12700">
            <a:solidFill>
              <a:srgbClr val="E0712C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新人教育訓練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天成長計畫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4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 ·  Okuma  ·  射出成型機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4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 5 人  |  技術組 4 人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內容：90 天教育架構 ・ 甘特圖 ・ 業務技術輪調排版表 ・ 學習護照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訓練總覽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目標、對象與產品線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認識公司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574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熟悉組織、制度、文化與服務流程，第一週完成基礎認識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熟悉產品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429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加工中心機、Okuma 車床／複合機、射出成型機三大產品線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3891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獨立作業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8006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90 天完成結訓考核：業務可獨立拜訪、技術可獨立裝機保養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75120" y="1645920"/>
            <a:ext cx="2514600" cy="2103120"/>
          </a:xfrm>
          <a:prstGeom prst="roundRect">
            <a:avLst>
              <a:gd name="adj" fmla="val 5217"/>
            </a:avLst>
          </a:prstGeom>
          <a:solidFill>
            <a:srgbClr val="E4EDF7"/>
          </a:solidFill>
          <a:ln w="12700">
            <a:solidFill>
              <a:srgbClr val="E4ED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1828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1945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人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9718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客戶開發 ・ 需求分析 ・ 報價提案 ・ 成交交機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372600" y="1645920"/>
            <a:ext cx="2514600" cy="2103120"/>
          </a:xfrm>
          <a:prstGeom prst="roundRect">
            <a:avLst>
              <a:gd name="adj" fmla="val 5217"/>
            </a:avLst>
          </a:prstGeom>
          <a:solidFill>
            <a:srgbClr val="FBEADD"/>
          </a:solidFill>
          <a:ln w="12700">
            <a:solidFill>
              <a:srgbClr val="FBEAD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0" y="1828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0" y="21945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人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0" y="29718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裝機調試 ・ 保養維修 ・ 程式應用 ・ 客戶教育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75120" y="4023360"/>
            <a:ext cx="5212080" cy="2286000"/>
          </a:xfrm>
          <a:prstGeom prst="roundRect">
            <a:avLst>
              <a:gd name="adj" fmla="val 48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0372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產品線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949440" y="4681728"/>
            <a:ext cx="164592" cy="164592"/>
          </a:xfrm>
          <a:prstGeom prst="ellipse">
            <a:avLst/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69480" y="45720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 </a:t>
            </a:r>
            <a:pPr indent="0" marL="0">
              <a:buNone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SPEEDIO 高速立式加工中心機、攻牙機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949440" y="5230368"/>
            <a:ext cx="164592" cy="164592"/>
          </a:xfrm>
          <a:prstGeom prst="ellipse">
            <a:avLst/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9480" y="51206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Okuma  </a:t>
            </a:r>
            <a:pPr indent="0" marL="0">
              <a:buNone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CNC 車床、複合加工機、OSP 控制器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949440" y="5779008"/>
            <a:ext cx="164592" cy="164592"/>
          </a:xfrm>
          <a:prstGeom prst="ellipse">
            <a:avLst/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69480" y="56692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射出成型機  </a:t>
            </a:r>
            <a:pPr indent="0" marL="0">
              <a:buNone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油壓／電動射出機、周邊自動化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天教育架構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三階段 ・ 十二週 ・ 由共同課程走向專業分流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  認識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299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   Day 1–7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560320"/>
            <a:ext cx="2377440" cy="2468880"/>
          </a:xfrm>
          <a:prstGeom prst="roundRect">
            <a:avLst>
              <a:gd name="adj" fmla="val 384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697480"/>
            <a:ext cx="20116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公司簡介、組織與制度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產品型錄研讀（三大產品線）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職場安全與 5S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認識導師與團隊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160020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第二階段  基礎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0299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2–5 週   Day 8–35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08960" y="2560320"/>
            <a:ext cx="4023360" cy="2468880"/>
          </a:xfrm>
          <a:prstGeom prst="roundRect">
            <a:avLst>
              <a:gd name="adj" fmla="val 3704"/>
            </a:avLst>
          </a:prstGeom>
          <a:solidFill>
            <a:srgbClr val="E4EDF7"/>
          </a:solidFill>
          <a:ln w="12700">
            <a:solidFill>
              <a:srgbClr val="E4ED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91840" y="2697480"/>
            <a:ext cx="3657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部門輪調（展示中心／服務部／零件倉／業務部）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產品基礎課程：機構、控制器、規格解讀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業務：市場與客戶分析、提案基礎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技術：安裝、基本保養、故障排除入門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30 考核：產品知識筆試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0" y="1600200"/>
            <a:ext cx="4343400" cy="822960"/>
          </a:xfrm>
          <a:prstGeom prst="roundRect">
            <a:avLst>
              <a:gd name="adj" fmla="val 11111"/>
            </a:avLst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0" y="164592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第三階段  實戰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20299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6–12 週   Day 36–90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0" y="2560320"/>
            <a:ext cx="4343400" cy="2468880"/>
          </a:xfrm>
          <a:prstGeom prst="roundRect">
            <a:avLst>
              <a:gd name="adj" fmla="val 3704"/>
            </a:avLst>
          </a:prstGeom>
          <a:solidFill>
            <a:srgbClr val="FBEADD"/>
          </a:solidFill>
          <a:ln w="12700">
            <a:solidFill>
              <a:srgbClr val="FBEA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0" y="2697480"/>
            <a:ext cx="39776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業務：隨訪客戶 → 獨立拜訪 → 完成一份提案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技術：隨師裝機 → 獨立保養 → 獨立處理案件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原廠／進階課程（Brother、Okuma、射出機）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60 考核：實作演練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90 結訓：成果發表與考核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5623560"/>
            <a:ext cx="9646920" cy="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5504688"/>
            <a:ext cx="237744" cy="237744"/>
          </a:xfrm>
          <a:prstGeom prst="ellipse">
            <a:avLst/>
          </a:prstGeom>
          <a:solidFill>
            <a:srgbClr val="E071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5840" y="5440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7  </a:t>
            </a:r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完成公司認識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46120" y="5504688"/>
            <a:ext cx="237744" cy="237744"/>
          </a:xfrm>
          <a:prstGeom prst="ellipse">
            <a:avLst/>
          </a:prstGeom>
          <a:solidFill>
            <a:srgbClr val="E071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66160" y="5440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30  </a:t>
            </a:r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產品知識筆試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52360" y="5504688"/>
            <a:ext cx="237744" cy="237744"/>
          </a:xfrm>
          <a:prstGeom prst="ellipse">
            <a:avLst/>
          </a:prstGeom>
          <a:solidFill>
            <a:srgbClr val="E071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0" y="5440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60  </a:t>
            </a:r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實作演練考核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332720" y="5504688"/>
            <a:ext cx="237744" cy="237744"/>
          </a:xfrm>
          <a:prstGeom prst="ellipse">
            <a:avLst/>
          </a:prstGeom>
          <a:solidFill>
            <a:srgbClr val="E071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52760" y="5440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90  </a:t>
            </a:r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結訓發表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  共同課程（業務 + 技術）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認識公司 ・ 研讀型錄 ・ 建立基本產品概念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749040"/>
                <a:gridCol w="374904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日程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上午 09:00–12:00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下午 13:30–17:30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學習護照蓋章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1（一）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報到、公司簡介、組織架構、經營理念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人事制度、差勤與報銷、資訊系統帳號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報到完成 ・ 制度說明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2（二）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工廠／展示中心導覽、職場安全與 5S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Brother 型錄研讀：SPEEDIO 系列、攻牙機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安全教育 ・ Brother 型錄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3（三）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Okuma 型錄研讀：車床、複合機、OSP 控制器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射出機型錄研讀：油壓／電動、規格表解讀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Okuma 型錄 ・ 射出機型錄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4（四）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客戶產業與應用案例（汽車、3C、醫療、模具）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競品比較與我司優勢、常見規格對照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應用案例 ・ 競品分析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5（五）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型錄總複習與小組報告（每人 5 分鐘）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1 週測驗 ・ 導師面談 ・ 分流說明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7 里程碑 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BEADD"/>
          </a:solidFill>
          <a:ln w="12700">
            <a:solidFill>
              <a:srgbClr val="FBEAD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週重點：</a:t>
            </a:r>
            <a:pPr indent="0" marL="0">
              <a:buNone/>
            </a:pPr>
            <a:r>
              <a:rPr lang="en-US" sz="12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全員在公司內以型錄為主教材，不外出；每日 17:00 前於學習護照記錄心得，由導師簽章。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  第 2–12 週行程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每週主題、學習內容與產出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418320" y="502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914400"/>
                <a:gridCol w="2103120"/>
                <a:gridCol w="457200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學習內容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產出／護照蓋章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W2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部門輪調 ①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展示中心：機台操作展示、Demo 流程、來訪接待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流程觀摩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W3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部門輪調 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技術服務部：隨技師保養，了解售後流程與常見問題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保養隨行 1 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W4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部門輪調 ③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零件倉／內勤：報價系統、訂單流程、交期管理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報價單製作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市場與客戶分析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產業客群、客戶名單分析、CRM 系統、Day 30 產品筆試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30 筆試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W6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提案與報價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需求訪談技巧、規格選型、報價策略、合約條款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模擬提案 1 份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W7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隨訪客戶 ①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隨資深業務拜訪（Brother／Okuma 客戶）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 3 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W8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隨訪客戶 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隨資深業務拜訪（射出機客戶），Day 60 角色扮演考核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60 考核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W9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原廠／進階課程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Brother、Okuma 原廠銷售課程、射出機應用選型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課程證明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 ①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自行安排陌生開發與既有客戶回訪，導師事後檢討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 5 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W11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 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追蹤商機、完成正式提案與報價、展會／活動支援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正式提案 1 份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W12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成果發表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90 天成果簡報、商機盤點、主管面談、轉正評核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90 結訓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備註：W7–W8 隨訪期間每日填寫拜訪紀錄；W10 起獨立拜訪需事前與導師確認名單。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  第 2–12 週行程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每週主題、學習內容與產出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418320" y="502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914400"/>
                <a:gridCol w="2103120"/>
                <a:gridCol w="457200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週次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1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1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主題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1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學習內容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1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產出／護照蓋章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1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W2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部門輪調 ①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技術服務部：工具與儀器、安全規範、服務單流程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服務單流程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W3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部門輪調 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零件倉：料號系統、備品管理、報修零件流程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料號查詢實作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W4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部門輪調 ③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業務部／展示中心：了解客戶需求與 Demo 準備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機準備 1 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機構與控制器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Brother C00／Okuma OSP 控制器操作、機械結構、Day 30 筆試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30 筆試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W6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安裝與調校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水平校正、精度量測、試車流程、驗收文件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隨師裝機 1 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W7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保養與維修 ①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定期保養項目（Brother／Okuma）、潤滑與主軸檢查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保養實作 3 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W8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保養與維修 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射出機保養：油壓、加熱、螺桿；Day 60 實作考核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60 考核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W9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原廠／進階課程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Brother、Okuma 原廠技術課程、射出機參數調整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課程證明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故障排除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警報代碼判讀、電控與油壓故障診斷、遠端支援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案例報告 3 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W11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獨立服務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獨立處理保養與簡易維修案件、客戶操作教學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獨立案件 3 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W12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成果發表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技術案例分享、實機操作考核、主管面談、轉正評核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Day 90 結訓 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備註：W6–W8 現場作業一律隨師進行；W11 獨立案件由技術主管指派並事後複核。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天甘特圖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橫軸為週次（W1–W12），藍色為業務組、橘色為技術組、深色為共同活動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91840" y="1600200"/>
            <a:ext cx="68580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6002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977640" y="1600200"/>
            <a:ext cx="68580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977640" y="16002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1600200"/>
            <a:ext cx="68580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6002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1600200"/>
            <a:ext cx="68580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49240" y="16002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600200"/>
            <a:ext cx="68580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6002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20840" y="1600200"/>
            <a:ext cx="68580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20840" y="16002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406640" y="1600200"/>
            <a:ext cx="68580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06640" y="16002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W7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92440" y="1600200"/>
            <a:ext cx="68580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92440" y="16002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W8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778240" y="1600200"/>
            <a:ext cx="68580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78240" y="16002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464040" y="1600200"/>
            <a:ext cx="68580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64040" y="16002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149840" y="1600200"/>
            <a:ext cx="68580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49840" y="16002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835640" y="1600200"/>
            <a:ext cx="68580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835640" y="16002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W12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2011680"/>
            <a:ext cx="11064240" cy="30175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2011680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1188720" y="2011680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公司認識 ・ 型錄研讀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28416" y="2075688"/>
            <a:ext cx="612648" cy="173736"/>
          </a:xfrm>
          <a:prstGeom prst="roundRect">
            <a:avLst>
              <a:gd name="adj" fmla="val 42105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" y="2313432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2313432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部門輪調（4 站）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014216" y="2377440"/>
            <a:ext cx="1984248" cy="173736"/>
          </a:xfrm>
          <a:prstGeom prst="roundRect">
            <a:avLst>
              <a:gd name="adj" fmla="val 42105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2615184"/>
            <a:ext cx="11064240" cy="30175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0080" y="2615184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188720" y="2615184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產品基礎課程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014216" y="2679192"/>
            <a:ext cx="2670048" cy="173736"/>
          </a:xfrm>
          <a:prstGeom prst="roundRect">
            <a:avLst>
              <a:gd name="adj" fmla="val 42105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0080" y="2916936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188720" y="2916936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市場與客戶分析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071616" y="2980944"/>
            <a:ext cx="612648" cy="173736"/>
          </a:xfrm>
          <a:prstGeom prst="roundRect">
            <a:avLst>
              <a:gd name="adj" fmla="val 42105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3218688"/>
            <a:ext cx="11064240" cy="30175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0080" y="32186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188720" y="3218688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提案與報價訓練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757416" y="3282696"/>
            <a:ext cx="612648" cy="173736"/>
          </a:xfrm>
          <a:prstGeom prst="roundRect">
            <a:avLst>
              <a:gd name="adj" fmla="val 42105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0080" y="3520440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1188720" y="3520440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隨訪客戶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7443216" y="3584448"/>
            <a:ext cx="1298448" cy="173736"/>
          </a:xfrm>
          <a:prstGeom prst="roundRect">
            <a:avLst>
              <a:gd name="adj" fmla="val 42105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48640" y="3822192"/>
            <a:ext cx="11064240" cy="30175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0080" y="3822192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1188720" y="3822192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獨立拜訪 ・ 正式提案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500616" y="3886200"/>
            <a:ext cx="1298448" cy="173736"/>
          </a:xfrm>
          <a:prstGeom prst="roundRect">
            <a:avLst>
              <a:gd name="adj" fmla="val 42105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40080" y="4123944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1188720" y="4123944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控制器與機構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071616" y="4187952"/>
            <a:ext cx="612648" cy="173736"/>
          </a:xfrm>
          <a:prstGeom prst="roundRect">
            <a:avLst>
              <a:gd name="adj" fmla="val 42105"/>
            </a:avLst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48640" y="4425696"/>
            <a:ext cx="11064240" cy="30175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40080" y="4425696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1188720" y="4425696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安裝調校 ・ 保養實作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757416" y="4489704"/>
            <a:ext cx="1984248" cy="173736"/>
          </a:xfrm>
          <a:prstGeom prst="roundRect">
            <a:avLst>
              <a:gd name="adj" fmla="val 42105"/>
            </a:avLst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40080" y="472744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1188720" y="4727448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故障排除 ・ 獨立服務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9500616" y="4791456"/>
            <a:ext cx="1298448" cy="173736"/>
          </a:xfrm>
          <a:prstGeom prst="roundRect">
            <a:avLst>
              <a:gd name="adj" fmla="val 42105"/>
            </a:avLst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8640" y="5029200"/>
            <a:ext cx="11064240" cy="301752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40080" y="5029200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1188720" y="5029200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原廠／進階課程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8814816" y="5093208"/>
            <a:ext cx="612648" cy="173736"/>
          </a:xfrm>
          <a:prstGeom prst="roundRect">
            <a:avLst>
              <a:gd name="adj" fmla="val 42105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40080" y="5330952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1188720" y="5330952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成果發表 ・ 結訓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10872216" y="5394960"/>
            <a:ext cx="612648" cy="173736"/>
          </a:xfrm>
          <a:prstGeom prst="roundRect">
            <a:avLst>
              <a:gd name="adj" fmla="val 42105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2918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9776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6634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3492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350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7208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066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924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7782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4640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498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8356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1521440" y="2011680"/>
            <a:ext cx="0" cy="3621024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40080" y="574243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3822192" y="5788152"/>
            <a:ext cx="274320" cy="274320"/>
          </a:xfrm>
          <a:prstGeom prst="diamond">
            <a:avLst/>
          </a:prstGeom>
          <a:solidFill>
            <a:srgbClr val="3C8D5A"/>
          </a:solidFill>
          <a:ln w="12700">
            <a:solidFill>
              <a:srgbClr val="3C8D5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3456432" y="60716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C8D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7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6565392" y="5788152"/>
            <a:ext cx="274320" cy="274320"/>
          </a:xfrm>
          <a:prstGeom prst="diamond">
            <a:avLst/>
          </a:prstGeom>
          <a:solidFill>
            <a:srgbClr val="3C8D5A"/>
          </a:solidFill>
          <a:ln w="12700">
            <a:solidFill>
              <a:srgbClr val="3C8D5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199632" y="60716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C8D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30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8622792" y="5788152"/>
            <a:ext cx="274320" cy="274320"/>
          </a:xfrm>
          <a:prstGeom prst="diamond">
            <a:avLst/>
          </a:prstGeom>
          <a:solidFill>
            <a:srgbClr val="3C8D5A"/>
          </a:solidFill>
          <a:ln w="12700">
            <a:solidFill>
              <a:srgbClr val="3C8D5A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8257032" y="60716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C8D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60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11365992" y="5788152"/>
            <a:ext cx="274320" cy="274320"/>
          </a:xfrm>
          <a:prstGeom prst="diamond">
            <a:avLst/>
          </a:prstGeom>
          <a:solidFill>
            <a:srgbClr val="3C8D5A"/>
          </a:solidFill>
          <a:ln w="12700">
            <a:solidFill>
              <a:srgbClr val="3C8D5A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1000232" y="60716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C8D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90</a:t>
            </a:r>
            <a:endParaRPr lang="en-US" sz="950" dirty="0"/>
          </a:p>
        </p:txBody>
      </p:sp>
      <p:sp>
        <p:nvSpPr>
          <p:cNvPr id="92" name="Text 9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業務／技術輪調排版表（第 2–4 週）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跨部門輪調，讓業務懂技術、技術懂客戶；第 5 週起回歸各組專業課程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737360"/>
                <a:gridCol w="2075688"/>
                <a:gridCol w="2075688"/>
                <a:gridCol w="206654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輪調站別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站別負責人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2 週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3 週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4 週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 展示中心（Demo／操作）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展示中心主管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B1 B2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B3 B4 B5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T3 T4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 技術服務部（保養／裝機）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技術主管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T1 T2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B1 B2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B3 B4 B5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 零件倉／內勤（料號／報價）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倉管／內勤主管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B3 B4 B5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T1 T2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5C8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B1 B2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 業務部（隨訪／客戶需求）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78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業務主管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T3 T4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T3 T4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71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T1 T2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93776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E4EDF7"/>
          </a:solidFill>
          <a:ln w="12700">
            <a:solidFill>
              <a:srgbClr val="E4ED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029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 5 人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分兩組（B1–B2、B3–B5），三週輪完 A、B、C 三站，理解 Demo、售後與報價流程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297680" y="493776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FBEADD"/>
          </a:solidFill>
          <a:ln w="12700">
            <a:solidFill>
              <a:srgbClr val="FBEA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80560" y="5029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 4 人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80560" y="5394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分兩組：T1–T2 輪 B、C、D 三站；T3–T4 於業務部隨訪兩週後至展示中心，理解客戶需求與 Demo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046720" y="493776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E3F1E8"/>
          </a:solidFill>
          <a:ln w="12700">
            <a:solidFill>
              <a:srgbClr val="E3F1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5029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8D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站別規則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5394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每站週五由站別負責人於學習護照簽章；週一 09:00 換站前先交上一站心得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個人輪調排版表（9 人 × 12 週）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每位新人的每週去向一覽，供主管排班與導師追蹤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30275"/>
                <a:gridCol w="830275"/>
                <a:gridCol w="830275"/>
                <a:gridCol w="830275"/>
                <a:gridCol w="830275"/>
                <a:gridCol w="830275"/>
                <a:gridCol w="830275"/>
                <a:gridCol w="830275"/>
                <a:gridCol w="830275"/>
                <a:gridCol w="830275"/>
                <a:gridCol w="830275"/>
                <a:gridCol w="830275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B1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市場分析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提案報價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B2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市場分析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提案報價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B3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市場分析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提案報價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B4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市場分析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提案報價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 B5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市場分析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提案報價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獨立拜訪②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T1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1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業務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控制器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安裝調校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故障排除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T2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1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零件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業務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控制器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安裝調校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故障排除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T3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1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業務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業務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控制器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安裝調校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故障排除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 T4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1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公司認識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業務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業務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展示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控制器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安裝調校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保養①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保養②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原廠課程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故障排除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22A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獨立服務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C8D5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結訓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806440"/>
            <a:ext cx="320040" cy="274320"/>
          </a:xfrm>
          <a:prstGeom prst="rect">
            <a:avLst/>
          </a:prstGeom>
          <a:solidFill>
            <a:srgbClr val="F3F5F8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5760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共同課程／輪調站別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3337560" y="5806440"/>
            <a:ext cx="320040" cy="274320"/>
          </a:xfrm>
          <a:prstGeom prst="rect">
            <a:avLst/>
          </a:prstGeom>
          <a:solidFill>
            <a:srgbClr val="E4EDF7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749040" y="5760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業務組專業課程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126480" y="5806440"/>
            <a:ext cx="320040" cy="274320"/>
          </a:xfrm>
          <a:prstGeom prst="rect">
            <a:avLst/>
          </a:prstGeom>
          <a:solidFill>
            <a:srgbClr val="FBEADD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37960" y="5760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技術組專業課程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915400" y="5806440"/>
            <a:ext cx="320040" cy="274320"/>
          </a:xfrm>
          <a:prstGeom prst="rect">
            <a:avLst/>
          </a:prstGeom>
          <a:solidFill>
            <a:srgbClr val="E3F1E8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326880" y="5760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C8D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共同活動（原廠課程、結訓）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學習護照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4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每位新人一本，記錄 90 天的每一個學習足跡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840480" cy="4480560"/>
          </a:xfrm>
          <a:prstGeom prst="roundRect">
            <a:avLst>
              <a:gd name="adj" fmla="val 4762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101600" dist="508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</a:t>
            </a:r>
            <a:endParaRPr lang="en-US" sz="2400" dirty="0"/>
          </a:p>
          <a:p>
            <a:pPr indent="0" marL="0">
              <a:buNone/>
            </a:pPr>
            <a:r>
              <a:rPr lang="en-US" sz="24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PASSPORT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200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新人學習護照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9319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姓名：________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組別：業務 ／ 技術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導師：________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CE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報到日：____ / __ / __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5120640"/>
            <a:ext cx="914400" cy="914400"/>
          </a:xfrm>
          <a:prstGeom prst="ellipse">
            <a:avLst/>
          </a:prstGeom>
          <a:solidFill>
            <a:srgbClr val="E071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51206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12080" y="1783080"/>
            <a:ext cx="411480" cy="411480"/>
          </a:xfrm>
          <a:prstGeom prst="ellipse">
            <a:avLst/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70" dirty="0"/>
          </a:p>
        </p:txBody>
      </p:sp>
      <p:sp>
        <p:nvSpPr>
          <p:cNvPr id="12" name="Text 10"/>
          <p:cNvSpPr txBox="1"/>
          <p:nvPr/>
        </p:nvSpPr>
        <p:spPr>
          <a:xfrm>
            <a:off x="5806440" y="17373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護照結構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806440" y="214884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6D1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基本資料　② 共同課程頁　③ 輪調站別頁　④ 專業課程頁　⑤ 里程碑考核頁　⑥ 導師／主管評語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12080" y="2898648"/>
            <a:ext cx="411480" cy="411480"/>
          </a:xfrm>
          <a:prstGeom prst="ellipse">
            <a:avLst/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2080" y="2898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70" dirty="0"/>
          </a:p>
        </p:txBody>
      </p:sp>
      <p:sp>
        <p:nvSpPr>
          <p:cNvPr id="16" name="Text 14"/>
          <p:cNvSpPr txBox="1"/>
          <p:nvPr/>
        </p:nvSpPr>
        <p:spPr>
          <a:xfrm>
            <a:off x="5806440" y="285292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蓋章機制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806440" y="326440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6D1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完成一項學習任務，由授課者、站別負責人或導師簽章；缺章項目列入週會追蹤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12080" y="4014216"/>
            <a:ext cx="411480" cy="411480"/>
          </a:xfrm>
          <a:prstGeom prst="ellipse">
            <a:avLst/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4014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70" dirty="0"/>
          </a:p>
        </p:txBody>
      </p:sp>
      <p:sp>
        <p:nvSpPr>
          <p:cNvPr id="20" name="Text 18"/>
          <p:cNvSpPr txBox="1"/>
          <p:nvPr/>
        </p:nvSpPr>
        <p:spPr>
          <a:xfrm>
            <a:off x="5806440" y="3968496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每週回顧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4379976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6D1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每週五 16:30 導師檢視護照，確認本週進度並簽署；心得未填寫不予簽章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212080" y="5129784"/>
            <a:ext cx="411480" cy="411480"/>
          </a:xfrm>
          <a:prstGeom prst="ellipse">
            <a:avLst/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12080" y="51297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170" dirty="0"/>
          </a:p>
        </p:txBody>
      </p:sp>
      <p:sp>
        <p:nvSpPr>
          <p:cNvPr id="24" name="Text 22"/>
          <p:cNvSpPr txBox="1"/>
          <p:nvPr/>
        </p:nvSpPr>
        <p:spPr>
          <a:xfrm>
            <a:off x="5806440" y="5084064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結訓條件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5495544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6D1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90 前集滿必修章（業務 24 章／技術 24 章）+ 三次里程碑考核合格 = 結訓通過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學習護照 ・ 業務組蓋章清單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 24 個必修章，依階段分頁；每章由指定人員簽章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418320" y="502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E4EDF7"/>
          </a:solidFill>
          <a:ln w="12700">
            <a:solidFill>
              <a:srgbClr val="E4ED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  認識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38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 ・ 簽章：人資／導師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73152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860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報到與制度說明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人資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80720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73152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7614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職場安全與 5S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廠務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28269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31520" y="3282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369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型錄研讀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758184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731520" y="3758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7124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Okuma 型錄研讀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3367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731520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187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射出機型錄研讀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470916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731520" y="4709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6634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產業應用案例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業務主管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518464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731520" y="5184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51389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競品分析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業務主管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566013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731520" y="5660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61441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週測驗合格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297680" y="150876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E4EDF7"/>
          </a:solidFill>
          <a:ln w="12700">
            <a:solidFill>
              <a:srgbClr val="E4EDF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第二階段  基礎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1938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2–5 週 ・ 簽章：站別負責人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480560" y="23317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448056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937760" y="22860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展示中心 Demo 觀摩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展示中心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480560" y="280720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448056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4937760" y="27614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技術服務保養隨行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技術主管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480560" y="328269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4480560" y="3282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937760" y="32369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報價單製作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內勤主管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480560" y="3758184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46" name="Text 44"/>
          <p:cNvSpPr txBox="1"/>
          <p:nvPr/>
        </p:nvSpPr>
        <p:spPr>
          <a:xfrm>
            <a:off x="4480560" y="3758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937760" y="37124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訂單與交期流程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內勤主管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480560" y="423367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4480560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4937760" y="4187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系統操作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業務主管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480560" y="470916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52" name="Text 50"/>
          <p:cNvSpPr txBox="1"/>
          <p:nvPr/>
        </p:nvSpPr>
        <p:spPr>
          <a:xfrm>
            <a:off x="4480560" y="4709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4937760" y="46634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客戶名單分析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業務主管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480560" y="518464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4480560" y="5184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937760" y="51389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產品知識筆試 Day 30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訓練負責人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480560" y="566013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4480560" y="5660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4937760" y="561441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輪調心得報告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046720" y="150876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E4EDF7"/>
          </a:solidFill>
          <a:ln w="12700">
            <a:solidFill>
              <a:srgbClr val="E4EDF7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2960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第三階段  實戰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229600" y="1938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6–12 週 ・ 簽章：導師／主管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229600" y="23317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64" name="Text 62"/>
          <p:cNvSpPr txBox="1"/>
          <p:nvPr/>
        </p:nvSpPr>
        <p:spPr>
          <a:xfrm>
            <a:off x="822960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8686800" y="22860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模擬提案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業務主管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29600" y="280720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67" name="Text 65"/>
          <p:cNvSpPr txBox="1"/>
          <p:nvPr/>
        </p:nvSpPr>
        <p:spPr>
          <a:xfrm>
            <a:off x="822960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8686800" y="27614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隨訪客戶 6 家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資深業務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229600" y="328269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70" name="Text 68"/>
          <p:cNvSpPr txBox="1"/>
          <p:nvPr/>
        </p:nvSpPr>
        <p:spPr>
          <a:xfrm>
            <a:off x="8229600" y="3282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686800" y="32369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角色扮演考核 Day 60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訓練負責人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8229600" y="3758184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8229600" y="3758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8686800" y="37124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原廠銷售課程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原廠講師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8229600" y="423367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8229600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8686800" y="4187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獨立拜訪 5 家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8229600" y="470916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79" name="Text 77"/>
          <p:cNvSpPr txBox="1"/>
          <p:nvPr/>
        </p:nvSpPr>
        <p:spPr>
          <a:xfrm>
            <a:off x="8229600" y="4709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686800" y="46634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正式提案與報價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業務主管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8229600" y="518464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82" name="Text 80"/>
          <p:cNvSpPr txBox="1"/>
          <p:nvPr/>
        </p:nvSpPr>
        <p:spPr>
          <a:xfrm>
            <a:off x="8229600" y="5184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900" dirty="0"/>
          </a:p>
        </p:txBody>
      </p:sp>
      <p:sp>
        <p:nvSpPr>
          <p:cNvPr id="83" name="Text 81"/>
          <p:cNvSpPr txBox="1"/>
          <p:nvPr/>
        </p:nvSpPr>
        <p:spPr>
          <a:xfrm>
            <a:off x="8686800" y="51389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成果發表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總經理／協理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8229600" y="566013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5C8A"/>
            </a:solidFill>
            <a:prstDash val="dash"/>
          </a:ln>
        </p:spPr>
      </p:sp>
      <p:sp>
        <p:nvSpPr>
          <p:cNvPr id="85" name="Text 83"/>
          <p:cNvSpPr txBox="1"/>
          <p:nvPr/>
        </p:nvSpPr>
        <p:spPr>
          <a:xfrm>
            <a:off x="8229600" y="5660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900" dirty="0"/>
          </a:p>
        </p:txBody>
      </p:sp>
      <p:sp>
        <p:nvSpPr>
          <p:cNvPr id="86" name="Text 84"/>
          <p:cNvSpPr txBox="1"/>
          <p:nvPr/>
        </p:nvSpPr>
        <p:spPr>
          <a:xfrm>
            <a:off x="8686800" y="561441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結訓考核 Day 90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訓練負責人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學習護照 ・ 技術組蓋章清單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 24 個必修章，依階段分頁；每章由指定人員簽章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418320" y="502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BEADD"/>
          </a:solidFill>
          <a:ln w="12700">
            <a:solidFill>
              <a:srgbClr val="FBEA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  認識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38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 ・ 簽章：人資／導師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73152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860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報到與制度說明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人資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80720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73152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7614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職場安全與 5S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廠務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28269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31520" y="3282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369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型錄研讀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758184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731520" y="3758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7124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Okuma 型錄研讀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3367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731520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187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射出機型錄研讀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470916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731520" y="4709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6634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產業應用案例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技術主管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518464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731520" y="5184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51389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規格表解讀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技術主管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566013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731520" y="5660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61441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週測驗合格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297680" y="150876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BEADD"/>
          </a:solidFill>
          <a:ln w="12700">
            <a:solidFill>
              <a:srgbClr val="FBEA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第二階段  基礎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1938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2–5 週 ・ 簽章：站別負責人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480560" y="23317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448056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937760" y="22860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服務單流程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技術主管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480560" y="280720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448056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4937760" y="27614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工具與儀器使用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資深技師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480560" y="328269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4480560" y="3282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937760" y="32369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料號查詢與備品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倉管主管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480560" y="3758184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46" name="Text 44"/>
          <p:cNvSpPr txBox="1"/>
          <p:nvPr/>
        </p:nvSpPr>
        <p:spPr>
          <a:xfrm>
            <a:off x="4480560" y="3758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937760" y="37124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機準備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展示中心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480560" y="423367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4480560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4937760" y="4187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Brother 控制器操作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資深技師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480560" y="470916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52" name="Text 50"/>
          <p:cNvSpPr txBox="1"/>
          <p:nvPr/>
        </p:nvSpPr>
        <p:spPr>
          <a:xfrm>
            <a:off x="4480560" y="4709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4937760" y="46634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Okuma OSP 操作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資深技師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480560" y="518464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4480560" y="5184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937760" y="51389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產品知識筆試 Day 30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訓練負責人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480560" y="566013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4480560" y="5660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4937760" y="561441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輪調心得報告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導師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046720" y="150876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BEADD"/>
          </a:solidFill>
          <a:ln w="12700">
            <a:solidFill>
              <a:srgbClr val="FBEAD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2960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第三階段  實戰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229600" y="1938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6–12 週 ・ 簽章：導師／主管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229600" y="23317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64" name="Text 62"/>
          <p:cNvSpPr txBox="1"/>
          <p:nvPr/>
        </p:nvSpPr>
        <p:spPr>
          <a:xfrm>
            <a:off x="8229600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8686800" y="22860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隨師裝機 1 台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資深技師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29600" y="280720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67" name="Text 65"/>
          <p:cNvSpPr txBox="1"/>
          <p:nvPr/>
        </p:nvSpPr>
        <p:spPr>
          <a:xfrm>
            <a:off x="822960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8686800" y="27614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定期保養實作 3 台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資深技師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229600" y="328269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70" name="Text 68"/>
          <p:cNvSpPr txBox="1"/>
          <p:nvPr/>
        </p:nvSpPr>
        <p:spPr>
          <a:xfrm>
            <a:off x="8229600" y="3282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686800" y="32369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射出機保養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資深技師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8229600" y="3758184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8229600" y="3758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8686800" y="37124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實作考核 Day 60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訓練負責人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8229600" y="4233672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8229600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8686800" y="4187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原廠技術課程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原廠講師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8229600" y="470916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79" name="Text 77"/>
          <p:cNvSpPr txBox="1"/>
          <p:nvPr/>
        </p:nvSpPr>
        <p:spPr>
          <a:xfrm>
            <a:off x="8229600" y="4709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686800" y="46634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故障案例報告 3 件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技術主管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8229600" y="518464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82" name="Text 80"/>
          <p:cNvSpPr txBox="1"/>
          <p:nvPr/>
        </p:nvSpPr>
        <p:spPr>
          <a:xfrm>
            <a:off x="8229600" y="5184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900" dirty="0"/>
          </a:p>
        </p:txBody>
      </p:sp>
      <p:sp>
        <p:nvSpPr>
          <p:cNvPr id="83" name="Text 81"/>
          <p:cNvSpPr txBox="1"/>
          <p:nvPr/>
        </p:nvSpPr>
        <p:spPr>
          <a:xfrm>
            <a:off x="8686800" y="51389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獨立服務案件 3 件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技術主管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8229600" y="5660136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712C"/>
            </a:solidFill>
            <a:prstDash val="dash"/>
          </a:ln>
        </p:spPr>
      </p:sp>
      <p:sp>
        <p:nvSpPr>
          <p:cNvPr id="85" name="Text 83"/>
          <p:cNvSpPr txBox="1"/>
          <p:nvPr/>
        </p:nvSpPr>
        <p:spPr>
          <a:xfrm>
            <a:off x="8229600" y="5660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900" dirty="0"/>
          </a:p>
        </p:txBody>
      </p:sp>
      <p:sp>
        <p:nvSpPr>
          <p:cNvPr id="86" name="Text 84"/>
          <p:cNvSpPr txBox="1"/>
          <p:nvPr/>
        </p:nvSpPr>
        <p:spPr>
          <a:xfrm>
            <a:off x="8686800" y="561441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結訓考核 Day 90</a:t>
            </a:r>
            <a:pPr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訓練負責人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里程碑考核與評分標準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三次考核 + 護照集章，決定轉正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產品知識筆試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432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三大產品線規格、型號、應用；70 分合格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筆試 100%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26280" y="1691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71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60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331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實作演練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7432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業務：客戶角色扮演提案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技術：現場保養實作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導師評分 60% ＋ 主管 40%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55448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75320" y="1691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C8D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90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331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結訓發表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7432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業務：成果簡報＋商機盤點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技術：案例分享＋實機考核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8D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評審團評分 ＋ 護照集章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34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轉正評核權重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2766060" cy="502920"/>
          </a:xfrm>
          <a:prstGeom prst="rect">
            <a:avLst/>
          </a:prstGeom>
          <a:solidFill>
            <a:srgbClr val="1B2A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892040"/>
            <a:ext cx="27660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440680"/>
            <a:ext cx="27660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護照集章 24/24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14700" y="4892040"/>
            <a:ext cx="1659636" cy="502920"/>
          </a:xfrm>
          <a:prstGeom prst="rect">
            <a:avLst/>
          </a:prstGeom>
          <a:solidFill>
            <a:srgbClr val="2E5C8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14700" y="4892040"/>
            <a:ext cx="16596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314700" y="5440680"/>
            <a:ext cx="1659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30 筆試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74336" y="4892040"/>
            <a:ext cx="2766060" cy="502920"/>
          </a:xfrm>
          <a:prstGeom prst="rect">
            <a:avLst/>
          </a:prstGeom>
          <a:solidFill>
            <a:srgbClr val="E0712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74336" y="4892040"/>
            <a:ext cx="27660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974336" y="5440680"/>
            <a:ext cx="27660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60 實作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740396" y="4892040"/>
            <a:ext cx="2766060" cy="502920"/>
          </a:xfrm>
          <a:prstGeom prst="rect">
            <a:avLst/>
          </a:prstGeom>
          <a:solidFill>
            <a:srgbClr val="3C8D5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40396" y="4892040"/>
            <a:ext cx="27660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740396" y="5440680"/>
            <a:ext cx="27660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 90 結訓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506456" y="4892040"/>
            <a:ext cx="1106424" cy="502920"/>
          </a:xfrm>
          <a:prstGeom prst="rect">
            <a:avLst/>
          </a:prstGeom>
          <a:solidFill>
            <a:srgbClr val="6B778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506456" y="4892040"/>
            <a:ext cx="1106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10506456" y="5440680"/>
            <a:ext cx="1106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導師與主管評語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導師制度與角色分工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誰負責什麼，讓 90 天計畫落地執行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28016" cy="68580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訓練負責人（人資）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5544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統籌課表、安排講師、主持三次考核、彙整護照成績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128016" cy="685800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C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業務導師 × 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423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每位帶 2–3 名業務新人，隨訪安排、每週護照檢視、Day 60 評分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28016" cy="685800"/>
          </a:xfrm>
          <a:prstGeom prst="roundRect">
            <a:avLst>
              <a:gd name="adj" fmla="val 50000"/>
            </a:avLst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2918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技術導師 × 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2918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每位帶 2 名技術新人，現場帶教、安全把關、獨立案件複核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160520"/>
            <a:ext cx="128016" cy="685800"/>
          </a:xfrm>
          <a:prstGeom prst="roundRect">
            <a:avLst>
              <a:gd name="adj" fmla="val 50000"/>
            </a:avLst>
          </a:prstGeom>
          <a:solidFill>
            <a:srgbClr val="3C8D5A"/>
          </a:solidFill>
          <a:ln w="12700">
            <a:solidFill>
              <a:srgbClr val="3C8D5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1605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8D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站別負責人 × 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41605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展示中心／技術服務／零件倉／業務部，負責輪調週教學與簽章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28016" cy="685800"/>
          </a:xfrm>
          <a:prstGeom prst="roundRect">
            <a:avLst>
              <a:gd name="adj" fmla="val 50000"/>
            </a:avLst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0292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部門主管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50292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月度面談、Day 90 評審、轉正決議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0" y="1554480"/>
            <a:ext cx="3657600" cy="4297680"/>
          </a:xfrm>
          <a:prstGeom prst="roundRect">
            <a:avLst>
              <a:gd name="adj" fmla="val 3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388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每週固定節奏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22402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週一 09:00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418320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換站報到、本週目標設定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29260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17:00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418320" y="2926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護照心得填寫（10 分鐘）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36118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週三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418320" y="3611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產品課程或原廠線上課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4297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週五 16:30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41832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導師檢視護照並簽章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9834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1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每月底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418320" y="4983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A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主管面談、里程碑考核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200400"/>
            <a:ext cx="4572000" cy="4572000"/>
          </a:xfrm>
          <a:prstGeom prst="ellipse">
            <a:avLst/>
          </a:prstGeom>
          <a:solidFill>
            <a:srgbClr val="2E5C8A">
              <a:alpha val="30000"/>
            </a:srgbClr>
          </a:solidFill>
          <a:ln w="12700">
            <a:solidFill>
              <a:srgbClr val="2E5C8A">
                <a:alpha val="30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 天後，我們期待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10698480" cy="1051560"/>
          </a:xfrm>
          <a:prstGeom prst="roundRect">
            <a:avLst>
              <a:gd name="adj" fmla="val 10435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46888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246888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位能獨立拜訪、提案報價、掌握三大產品線的業務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840480"/>
            <a:ext cx="10698480" cy="1051560"/>
          </a:xfrm>
          <a:prstGeom prst="roundRect">
            <a:avLst>
              <a:gd name="adj" fmla="val 10435"/>
            </a:avLst>
          </a:prstGeom>
          <a:solidFill>
            <a:srgbClr val="E0712C"/>
          </a:solidFill>
          <a:ln w="12700">
            <a:solidFill>
              <a:srgbClr val="E0712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384048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技術組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384048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位能獨立裝機、保養、排除常見故障的技術人員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附件：學習護照樣張與各週課程講義，由訓練負責人於報到日發放。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2026-09-24T02:33:49Z</dcterms:created>
  <dcterms:modified xsi:type="dcterms:W3CDTF">2026-09-24T02:33:49Z</dcterms:modified>
</cp:coreProperties>
</file>