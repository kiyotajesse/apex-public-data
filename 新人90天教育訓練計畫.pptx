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82296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000" b="1" dirty="0">
                <a:solidFill>
                  <a:srgbClr val="FFFFFF">
                    <a:alpha val="1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25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20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新人教育訓練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88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A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90 天成長計畫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ED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Brother  ·  Okuma  ·  射出成型機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434340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343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業務組  5 人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331720" y="434340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1720" y="4343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技術組  4 人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" y="5806440"/>
            <a:ext cx="10698480" cy="0"/>
          </a:xfrm>
          <a:prstGeom prst="line">
            <a:avLst/>
          </a:prstGeom>
          <a:noFill/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90 天教育架構   ·   甘特圖   ·   業務技術輪調排版表   ·   學習護照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0" y="5943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簡報大綱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69494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6459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教育架構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1488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訓練總覽、三階段架構、第 1 週共同課程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12280" y="1874520"/>
            <a:ext cx="457200" cy="457200"/>
          </a:xfrm>
          <a:prstGeom prst="ellipse">
            <a:avLst/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6580" y="1988820"/>
            <a:ext cx="228600" cy="228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40080" y="2743200"/>
            <a:ext cx="69494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68680" y="27432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173736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行程規劃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737360" y="32461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業務組與技術組 W2–W12 週行程、90 天甘特圖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812280" y="2971800"/>
            <a:ext cx="457200" cy="457200"/>
          </a:xfrm>
          <a:prstGeom prst="ellipse">
            <a:avLst/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580" y="3086100"/>
            <a:ext cx="228600" cy="2286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40080" y="3840480"/>
            <a:ext cx="69494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868680" y="3840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173736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輪調與學習護照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1737360" y="43434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部門輪調排版表、個人輪調表、學習護照與蓋章清單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812280" y="4069080"/>
            <a:ext cx="457200" cy="457200"/>
          </a:xfrm>
          <a:prstGeom prst="ellipse">
            <a:avLst/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80" y="4183380"/>
            <a:ext cx="228600" cy="22860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40080" y="4937760"/>
            <a:ext cx="69494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868680" y="49377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sp>
        <p:nvSpPr>
          <p:cNvPr id="24" name="Text 19"/>
          <p:cNvSpPr txBox="1"/>
          <p:nvPr/>
        </p:nvSpPr>
        <p:spPr>
          <a:xfrm>
            <a:off x="173736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考核與執行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1737360" y="54406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里程碑考核、轉正權重、導師制度與每週節奏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812280" y="5166360"/>
            <a:ext cx="457200" cy="457200"/>
          </a:xfrm>
          <a:prstGeom prst="ellipse">
            <a:avLst/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6580" y="5280660"/>
            <a:ext cx="228600" cy="228600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7955280" y="1645920"/>
            <a:ext cx="3611880" cy="4206240"/>
          </a:xfrm>
          <a:prstGeom prst="roundRect">
            <a:avLst>
              <a:gd name="adj" fmla="val 3544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183880" y="1828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AT A GLANCE</a:t>
            </a:r>
            <a:endParaRPr 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8183880" y="22402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4400" dirty="0"/>
          </a:p>
        </p:txBody>
      </p:sp>
      <p:sp>
        <p:nvSpPr>
          <p:cNvPr id="31" name="Text 25"/>
          <p:cNvSpPr txBox="1"/>
          <p:nvPr/>
        </p:nvSpPr>
        <p:spPr>
          <a:xfrm>
            <a:off x="8183880" y="3154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週訓練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9875520" y="22402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4400" dirty="0"/>
          </a:p>
        </p:txBody>
      </p:sp>
      <p:sp>
        <p:nvSpPr>
          <p:cNvPr id="33" name="Text 27"/>
          <p:cNvSpPr txBox="1"/>
          <p:nvPr/>
        </p:nvSpPr>
        <p:spPr>
          <a:xfrm>
            <a:off x="9875520" y="3154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位新人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8183880" y="397764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400" dirty="0"/>
          </a:p>
        </p:txBody>
      </p:sp>
      <p:sp>
        <p:nvSpPr>
          <p:cNvPr id="35" name="Text 29"/>
          <p:cNvSpPr txBox="1"/>
          <p:nvPr/>
        </p:nvSpPr>
        <p:spPr>
          <a:xfrm>
            <a:off x="8183880" y="4892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站別輪調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9875520" y="397764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4400" dirty="0"/>
          </a:p>
        </p:txBody>
      </p:sp>
      <p:sp>
        <p:nvSpPr>
          <p:cNvPr id="37" name="Text 31"/>
          <p:cNvSpPr txBox="1"/>
          <p:nvPr/>
        </p:nvSpPr>
        <p:spPr>
          <a:xfrm>
            <a:off x="9875520" y="4892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必修章</a:t>
            </a:r>
            <a:endParaRPr lang="en-US" sz="1200" dirty="0"/>
          </a:p>
        </p:txBody>
      </p:sp>
      <p:sp>
        <p:nvSpPr>
          <p:cNvPr id="38" name="Text 3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39" name="Text 33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FRAMEWORK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429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教育架構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4805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ED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訓練總覽 ・ 三階段架構 ・ 第 1 週共同課程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503920" y="1737360"/>
            <a:ext cx="2926080" cy="292608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18320" y="2651760"/>
            <a:ext cx="1097280" cy="1097280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926080"/>
            <a:ext cx="548640" cy="5486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7F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F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OVERVIEW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訓練總覽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5603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62763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3042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天完整培育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1554480"/>
            <a:ext cx="25603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11880" y="162763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3042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週課程週次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554480"/>
            <a:ext cx="25603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55080" y="162763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+ 4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3042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 + 技術新人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69680" y="1554480"/>
            <a:ext cx="25603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098280" y="162763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8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098280" y="23042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大產品線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108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三大訓練目標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3611880"/>
            <a:ext cx="566928" cy="566928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" y="3753612"/>
            <a:ext cx="283464" cy="283464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371600" y="35935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認識公司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71600" y="390448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熟悉組織、制度、文化與服務流程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4480560"/>
            <a:ext cx="566928" cy="566928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" y="4622292"/>
            <a:ext cx="283464" cy="28346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371600" y="44622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熟悉產品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1371600" y="47731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Brother 加工中心機、Okuma 車床／複合機、射出成型機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40080" y="5349240"/>
            <a:ext cx="566928" cy="566928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5490972"/>
            <a:ext cx="283464" cy="28346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371600" y="53309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獨立作業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1371600" y="564184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90 天：業務可獨立拜訪提案，技術可獨立裝機保養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400800" y="3108960"/>
            <a:ext cx="5166360" cy="3063240"/>
          </a:xfrm>
          <a:prstGeom prst="roundRect">
            <a:avLst>
              <a:gd name="adj" fmla="val 4179"/>
            </a:avLst>
          </a:prstGeom>
          <a:solidFill>
            <a:srgbClr val="F4F6F9"/>
          </a:solidFill>
          <a:ln w="9525">
            <a:solidFill>
              <a:srgbClr val="F4F6F9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67512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LINES</a:t>
            </a:r>
            <a:endParaRPr lang="en-US" sz="900" dirty="0"/>
          </a:p>
        </p:txBody>
      </p:sp>
      <p:sp>
        <p:nvSpPr>
          <p:cNvPr id="31" name="Text 26"/>
          <p:cNvSpPr txBox="1"/>
          <p:nvPr/>
        </p:nvSpPr>
        <p:spPr>
          <a:xfrm>
            <a:off x="6675120" y="34930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三大產品線</a:t>
            </a:r>
            <a:endParaRPr lang="en-US" sz="1500" dirty="0"/>
          </a:p>
        </p:txBody>
      </p:sp>
      <p:sp>
        <p:nvSpPr>
          <p:cNvPr id="32" name="Shape 27"/>
          <p:cNvSpPr/>
          <p:nvPr/>
        </p:nvSpPr>
        <p:spPr>
          <a:xfrm>
            <a:off x="6675120" y="4069080"/>
            <a:ext cx="73152" cy="457200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903720" y="40233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Brother</a:t>
            </a:r>
            <a:endParaRPr lang="en-US" sz="1250" dirty="0"/>
          </a:p>
        </p:txBody>
      </p:sp>
      <p:sp>
        <p:nvSpPr>
          <p:cNvPr id="34" name="Text 29"/>
          <p:cNvSpPr txBox="1"/>
          <p:nvPr/>
        </p:nvSpPr>
        <p:spPr>
          <a:xfrm>
            <a:off x="6903720" y="4297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SPEEDIO 高速立式加工中心機、攻牙機、CNC-C00 控制器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6675120" y="4754880"/>
            <a:ext cx="73152" cy="457200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903720" y="47091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Okuma</a:t>
            </a:r>
            <a:endParaRPr lang="en-US" sz="1250" dirty="0"/>
          </a:p>
        </p:txBody>
      </p:sp>
      <p:sp>
        <p:nvSpPr>
          <p:cNvPr id="37" name="Text 32"/>
          <p:cNvSpPr txBox="1"/>
          <p:nvPr/>
        </p:nvSpPr>
        <p:spPr>
          <a:xfrm>
            <a:off x="6903720" y="49834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CNC 車床、複合加工機、五軸機、OSP-P 控制器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6675120" y="5440680"/>
            <a:ext cx="73152" cy="457200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903720" y="53949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射出成型機</a:t>
            </a:r>
            <a:endParaRPr lang="en-US" sz="1250" dirty="0"/>
          </a:p>
        </p:txBody>
      </p:sp>
      <p:sp>
        <p:nvSpPr>
          <p:cNvPr id="40" name="Text 35"/>
          <p:cNvSpPr txBox="1"/>
          <p:nvPr/>
        </p:nvSpPr>
        <p:spPr>
          <a:xfrm>
            <a:off x="6903720" y="56692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油壓／全電式射出機、模溫與周邊自動化</a:t>
            </a:r>
            <a:endParaRPr lang="en-US" sz="1050" dirty="0"/>
          </a:p>
        </p:txBody>
      </p:sp>
      <p:sp>
        <p:nvSpPr>
          <p:cNvPr id="41" name="Text 36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42" name="Text 37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FRAMEWORK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90 天教育架構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651760" cy="32918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54480"/>
            <a:ext cx="2651760" cy="1051560"/>
          </a:xfrm>
          <a:prstGeom prst="roundRect">
            <a:avLst>
              <a:gd name="adj" fmla="val 12174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331720"/>
            <a:ext cx="2651760" cy="274320"/>
          </a:xfrm>
          <a:prstGeom prst="rect">
            <a:avLst/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83080"/>
            <a:ext cx="566928" cy="566928"/>
          </a:xfrm>
          <a:prstGeom prst="ellipse">
            <a:avLst/>
          </a:prstGeom>
          <a:solidFill>
            <a:srgbClr val="0F1E33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1924812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54480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INTRO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554480" y="19659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 ・ Day 1–7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1752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公司簡介、組織與制度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產品型錄研讀（三大產品線）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職場安全與 5S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認識導師與團隊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474720" y="1554480"/>
            <a:ext cx="3840480" cy="32918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474720" y="1554480"/>
            <a:ext cx="3840480" cy="1051560"/>
          </a:xfrm>
          <a:prstGeom prst="roundRect">
            <a:avLst>
              <a:gd name="adj" fmla="val 12174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74720" y="2331720"/>
            <a:ext cx="3840480" cy="274320"/>
          </a:xfrm>
          <a:prstGeom prst="rect">
            <a:avLst/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1783080"/>
            <a:ext cx="566928" cy="566928"/>
          </a:xfrm>
          <a:prstGeom prst="ellipse">
            <a:avLst/>
          </a:prstGeom>
          <a:solidFill>
            <a:srgbClr val="0F1E33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1924812"/>
            <a:ext cx="283464" cy="28346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38912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FOUNDATION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389120" y="1965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基礎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3703320" y="26974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2–5 週 ・ Day 8–35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3703320" y="301752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部門輪調：展示中心／服務部／零件倉／業務部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產品基礎課程：機構、控制器、規格解讀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業務：市場與客戶分析、提案基礎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技術：安裝、基本保養、故障排除入門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30 產品知識筆試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498080" y="1554480"/>
            <a:ext cx="4069080" cy="32918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7498080" y="1554480"/>
            <a:ext cx="4069080" cy="1051560"/>
          </a:xfrm>
          <a:prstGeom prst="roundRect">
            <a:avLst>
              <a:gd name="adj" fmla="val 12174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498080" y="2331720"/>
            <a:ext cx="4069080" cy="274320"/>
          </a:xfrm>
          <a:prstGeom prst="rect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680960" y="1783080"/>
            <a:ext cx="566928" cy="566928"/>
          </a:xfrm>
          <a:prstGeom prst="ellipse">
            <a:avLst/>
          </a:prstGeom>
          <a:solidFill>
            <a:srgbClr val="0F1E33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2692" y="1924812"/>
            <a:ext cx="283464" cy="28346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412480" y="17373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PRACTICE</a:t>
            </a:r>
            <a:endParaRPr lang="en-US" sz="900" dirty="0"/>
          </a:p>
        </p:txBody>
      </p:sp>
      <p:sp>
        <p:nvSpPr>
          <p:cNvPr id="28" name="Text 23"/>
          <p:cNvSpPr txBox="1"/>
          <p:nvPr/>
        </p:nvSpPr>
        <p:spPr>
          <a:xfrm>
            <a:off x="8412480" y="19659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實戰</a:t>
            </a:r>
            <a:endParaRPr lang="en-US" sz="2000" dirty="0"/>
          </a:p>
        </p:txBody>
      </p:sp>
      <p:sp>
        <p:nvSpPr>
          <p:cNvPr id="29" name="Text 24"/>
          <p:cNvSpPr txBox="1"/>
          <p:nvPr/>
        </p:nvSpPr>
        <p:spPr>
          <a:xfrm>
            <a:off x="7726680" y="26974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6–12 週 ・ Day 36–90</a:t>
            </a:r>
            <a:endParaRPr lang="en-US" sz="1050" dirty="0"/>
          </a:p>
        </p:txBody>
      </p:sp>
      <p:sp>
        <p:nvSpPr>
          <p:cNvPr id="30" name="Text 25"/>
          <p:cNvSpPr txBox="1"/>
          <p:nvPr/>
        </p:nvSpPr>
        <p:spPr>
          <a:xfrm>
            <a:off x="7726680" y="3017520"/>
            <a:ext cx="3611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業務：隨訪客戶 → 獨立拜訪 → 正式提案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技術：隨師裝機 → 獨立保養 → 獨立處理案件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原廠／進階課程（Brother、Okuma、射出機）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60 實作演練考核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90 結訓成果發表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914400" y="5486400"/>
            <a:ext cx="9966960" cy="0"/>
          </a:xfrm>
          <a:prstGeom prst="line">
            <a:avLst/>
          </a:prstGeom>
          <a:noFill/>
          <a:ln w="25400">
            <a:solidFill>
              <a:srgbClr val="E1E6EC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822960" y="5367528"/>
            <a:ext cx="237744" cy="237744"/>
          </a:xfrm>
          <a:prstGeom prst="ellipse">
            <a:avLst/>
          </a:prstGeom>
          <a:solidFill>
            <a:srgbClr val="E876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1143000" y="5303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7  </a:t>
            </a:r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完成公司認識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3657600" y="5367528"/>
            <a:ext cx="237744" cy="237744"/>
          </a:xfrm>
          <a:prstGeom prst="ellipse">
            <a:avLst/>
          </a:prstGeom>
          <a:solidFill>
            <a:srgbClr val="E876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3977640" y="5303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30  </a:t>
            </a:r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產品知識筆試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7680960" y="5367528"/>
            <a:ext cx="237744" cy="237744"/>
          </a:xfrm>
          <a:prstGeom prst="ellipse">
            <a:avLst/>
          </a:prstGeom>
          <a:solidFill>
            <a:srgbClr val="E876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001000" y="5303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60  </a:t>
            </a:r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實作演練考核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10149840" y="5367528"/>
            <a:ext cx="237744" cy="237744"/>
          </a:xfrm>
          <a:prstGeom prst="ellipse">
            <a:avLst/>
          </a:prstGeom>
          <a:solidFill>
            <a:srgbClr val="E876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10469880" y="5303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90  </a:t>
            </a:r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結訓發表</a:t>
            </a:r>
            <a:endParaRPr lang="en-US" sz="1050" dirty="0"/>
          </a:p>
        </p:txBody>
      </p:sp>
      <p:sp>
        <p:nvSpPr>
          <p:cNvPr id="40" name="Text 3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41" name="Text 36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· COMMON CURRICULUM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週共同課程（業務 + 技術）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27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749040"/>
                <a:gridCol w="3657600"/>
                <a:gridCol w="20574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日程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上午 09:00–12:00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下午 13:30–17:30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學習護照蓋章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1（一）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報到、公司簡介、組織架構、經營理念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人事制度、差勤與報銷、資訊系統帳號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76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報到完成 ・ 制度說明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2（二）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工廠／展示中心導覽、職場安全與 5S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Brother 型錄研讀：SPEEDIO 系列、攻牙機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76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安全教育 ・ Brother 型錄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3（三）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Okuma 型錄研讀：車床、複合機、OSP 控制器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射出機型錄研讀：油壓／電動、規格表解讀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76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Okuma 型錄 ・ 射出機型錄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4（四）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客戶產業與應用案例（汽車、3C、醫療、模具）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競品比較與我司優勢、常見規格對照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76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應用案例 ・ 競品分析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5（五）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型錄總複習與小組報告（每人 5 分鐘）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1 週測驗 ・ 導師面談 ・ 分流說明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76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7 里程碑 ✔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94960"/>
            <a:ext cx="10927080" cy="777240"/>
          </a:xfrm>
          <a:prstGeom prst="roundRect">
            <a:avLst>
              <a:gd name="adj" fmla="val 16471"/>
            </a:avLst>
          </a:prstGeom>
          <a:solidFill>
            <a:srgbClr val="FDEEE3"/>
          </a:solidFill>
          <a:ln w="9525">
            <a:solidFill>
              <a:srgbClr val="FD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5513832"/>
            <a:ext cx="530352" cy="530352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" y="5646420"/>
            <a:ext cx="265176" cy="26517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539496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週重點 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全員在公司內以型錄為主教材，不外出；每日 17:00 前於學習護照記錄心得，由導師簽章。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&amp; GANTT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429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行程規劃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4805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ED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業務組 ・ 技術組 W2–W12 週行程與 90 天甘特圖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503920" y="1737360"/>
            <a:ext cx="2926080" cy="292608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18320" y="2651760"/>
            <a:ext cx="1097280" cy="1097280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926080"/>
            <a:ext cx="548640" cy="5486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7F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F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TRACK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業務組 第 2–12 週行程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378440" y="502920"/>
            <a:ext cx="685800" cy="685800"/>
          </a:xfrm>
          <a:prstGeom prst="ellipse">
            <a:avLst/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9890" y="67437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5029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業務組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92708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822960"/>
                <a:gridCol w="2103120"/>
                <a:gridCol w="4572000"/>
                <a:gridCol w="2651760"/>
              </a:tblGrid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週次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階段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主題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學習內容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產出／護照蓋章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部門輪調 ①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展示中心：機台操作展示、Demo 流程、來訪接待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流程觀摩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部門輪調 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技術服務部：隨技師保養，了解售後流程與常見問題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保養隨行 1 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部門輪調 ③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零件倉／內勤：報價系統、訂單流程、交期管理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報價單製作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市場與客戶分析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產業客群、客戶名單分析、CRM 系統、Day 30 產品筆試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30 筆試 ✔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提案與報價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需求訪談技巧、規格選型、報價策略、合約條款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模擬提案 1 份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隨訪客戶 ①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隨資深業務拜訪（Brother／Okuma 客戶）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 3 家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隨訪客戶 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隨資深業務拜訪（射出機客戶），Day 60 角色扮演考核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60 考核 ✔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原廠／進階課程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Brother、Okuma 原廠銷售課程、射出機應用選型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課程證明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 ①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自行安排陌生開發與既有客戶回訪，導師事後檢討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 5 家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 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追蹤商機、完成正式提案與報價、展會／活動支援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正式提案 1 份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成果發表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90 天成果簡報、商機盤點、主管面談、轉正評核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90 結訓 ✔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40080" y="6080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備註：W7–W8 隨訪期間每日填寫拜訪紀錄；W10 起獨立拜訪需事前與導師確認名單。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TRACK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技術組 第 2–12 週行程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378440" y="502920"/>
            <a:ext cx="685800" cy="685800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9890" y="67437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5029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技術組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92708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822960"/>
                <a:gridCol w="2103120"/>
                <a:gridCol w="4572000"/>
                <a:gridCol w="2651760"/>
              </a:tblGrid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週次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階段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主題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學習內容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產出／護照蓋章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62E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87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部門輪調 ①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技術服務部：工具與儀器、安全規範、服務單流程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服務單流程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87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部門輪調 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零件倉：料號系統、備品管理、報修零件流程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料號查詢實作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87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部門輪調 ③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業務部／展示中心：了解客戶需求與 Demo 準備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機準備 1 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87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機構與控制器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Brother C00／Okuma OSP 控制器操作、機械結構、Day 30 筆試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30 筆試 ✔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87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安裝與調校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水平校正、精度量測、試車流程、驗收文件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隨師裝機 1 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87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保養與維修 ①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定期保養項目（Brother／Okuma）、潤滑與主軸檢查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保養實作 3 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87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保養與維修 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射出機保養：油壓、加熱、螺桿；Day 60 實作考核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60 考核 ✔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87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原廠／進階課程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Brother、Okuma 原廠技術課程、射出機參數調整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課程證明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87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故障排除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警報代碼判讀、電控與油壓故障診斷、遠端支援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案例報告 3 件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87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獨立服務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獨立處理保養與簡易維修案件、客戶操作教學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獨立案件 3 件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87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成果發表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技術案例分享、實機操作考核、主管面談、轉正評核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90 結訓 ✔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40080" y="6080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備註：W6–W8 現場作業一律隨師進行；W11 獨立案件由技術主管指派並事後複核。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GANTT CHART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90 天甘特圖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589520" y="85039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36408" y="7772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共同活動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8641080" y="85039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7968" y="7772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業務組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9692640" y="85039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939528" y="7772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技術組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744200" y="850392"/>
            <a:ext cx="182880" cy="182880"/>
          </a:xfrm>
          <a:prstGeom prst="diamond">
            <a:avLst>
              <a:gd name="adj" fmla="val 25000"/>
            </a:avLst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91088" y="7772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83280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83280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64508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64508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45736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45736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26964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26964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08192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08192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789420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89420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70648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70648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151876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51876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W8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833104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833104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514332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514332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195560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195560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876788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876788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W12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40080" y="1956816"/>
            <a:ext cx="10927080" cy="30175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1956816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1325880" y="1956816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公司認識 ・ 型錄研讀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419856" y="2016252"/>
            <a:ext cx="608076" cy="182880"/>
          </a:xfrm>
          <a:prstGeom prst="roundRect">
            <a:avLst>
              <a:gd name="adj" fmla="val 40000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77240" y="225856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1325880" y="2258568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部門輪調（4 站）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101084" y="2318004"/>
            <a:ext cx="1970532" cy="182880"/>
          </a:xfrm>
          <a:prstGeom prst="roundRect">
            <a:avLst>
              <a:gd name="adj" fmla="val 40000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2560320"/>
            <a:ext cx="10927080" cy="30175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77240" y="2560320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1325880" y="256032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產品基礎課程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101084" y="2619756"/>
            <a:ext cx="2651760" cy="182880"/>
          </a:xfrm>
          <a:prstGeom prst="roundRect">
            <a:avLst>
              <a:gd name="adj" fmla="val 40000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777240" y="2862072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1325880" y="286207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市場與客戶分析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144768" y="2921508"/>
            <a:ext cx="608076" cy="182880"/>
          </a:xfrm>
          <a:prstGeom prst="roundRect">
            <a:avLst>
              <a:gd name="adj" fmla="val 40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40080" y="3163824"/>
            <a:ext cx="10927080" cy="30175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77240" y="3163824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325880" y="3163824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提案與報價訓練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825996" y="3223260"/>
            <a:ext cx="608076" cy="182880"/>
          </a:xfrm>
          <a:prstGeom prst="roundRect">
            <a:avLst>
              <a:gd name="adj" fmla="val 40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777240" y="3465576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1325880" y="3465576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隨訪客戶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7507224" y="3525012"/>
            <a:ext cx="1289304" cy="182880"/>
          </a:xfrm>
          <a:prstGeom prst="roundRect">
            <a:avLst>
              <a:gd name="adj" fmla="val 40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40080" y="3767328"/>
            <a:ext cx="10927080" cy="30175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7240" y="376732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1325880" y="3767328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獨立拜訪 ・ 正式提案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9550908" y="3826764"/>
            <a:ext cx="1289304" cy="182880"/>
          </a:xfrm>
          <a:prstGeom prst="roundRect">
            <a:avLst>
              <a:gd name="adj" fmla="val 40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777240" y="4069080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1325880" y="406908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控制器與機構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6144768" y="4128516"/>
            <a:ext cx="608076" cy="182880"/>
          </a:xfrm>
          <a:prstGeom prst="roundRect">
            <a:avLst>
              <a:gd name="adj" fmla="val 40000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640080" y="4370832"/>
            <a:ext cx="10927080" cy="30175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77240" y="4370832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1325880" y="437083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安裝調校 ・ 保養實作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6825996" y="4430268"/>
            <a:ext cx="1970532" cy="182880"/>
          </a:xfrm>
          <a:prstGeom prst="roundRect">
            <a:avLst>
              <a:gd name="adj" fmla="val 40000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68" name="Text 66"/>
          <p:cNvSpPr txBox="1"/>
          <p:nvPr/>
        </p:nvSpPr>
        <p:spPr>
          <a:xfrm>
            <a:off x="777240" y="4672584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</a:t>
            </a:r>
            <a:endParaRPr lang="en-US" sz="950" dirty="0"/>
          </a:p>
        </p:txBody>
      </p:sp>
      <p:sp>
        <p:nvSpPr>
          <p:cNvPr id="69" name="Text 67"/>
          <p:cNvSpPr txBox="1"/>
          <p:nvPr/>
        </p:nvSpPr>
        <p:spPr>
          <a:xfrm>
            <a:off x="1325880" y="4672584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故障排除 ・ 獨立服務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9550908" y="4732020"/>
            <a:ext cx="1289304" cy="182880"/>
          </a:xfrm>
          <a:prstGeom prst="roundRect">
            <a:avLst>
              <a:gd name="adj" fmla="val 40000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640080" y="4974336"/>
            <a:ext cx="10927080" cy="30175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777240" y="4974336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1325880" y="4974336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原廠／進階課程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8869680" y="5033772"/>
            <a:ext cx="608076" cy="182880"/>
          </a:xfrm>
          <a:prstGeom prst="roundRect">
            <a:avLst>
              <a:gd name="adj" fmla="val 40000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777240" y="52760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76" name="Text 74"/>
          <p:cNvSpPr txBox="1"/>
          <p:nvPr/>
        </p:nvSpPr>
        <p:spPr>
          <a:xfrm>
            <a:off x="1325880" y="5276088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成果發表 ・ 結訓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10913364" y="5335524"/>
            <a:ext cx="608076" cy="182880"/>
          </a:xfrm>
          <a:prstGeom prst="roundRect">
            <a:avLst>
              <a:gd name="adj" fmla="val 40000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3383280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064508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45736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426964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108192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789420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70648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151876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833104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514332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195560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0876788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1558016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777240" y="5687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3909060" y="5733288"/>
            <a:ext cx="274320" cy="274320"/>
          </a:xfrm>
          <a:prstGeom prst="diamond">
            <a:avLst/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3497580" y="60167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8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7</a:t>
            </a:r>
            <a:endParaRPr lang="en-US" sz="950" dirty="0"/>
          </a:p>
        </p:txBody>
      </p:sp>
      <p:sp>
        <p:nvSpPr>
          <p:cNvPr id="94" name="Shape 92"/>
          <p:cNvSpPr/>
          <p:nvPr/>
        </p:nvSpPr>
        <p:spPr>
          <a:xfrm>
            <a:off x="6633972" y="5733288"/>
            <a:ext cx="274320" cy="274320"/>
          </a:xfrm>
          <a:prstGeom prst="diamond">
            <a:avLst/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222492" y="60167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8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30</a:t>
            </a:r>
            <a:endParaRPr lang="en-US" sz="950" dirty="0"/>
          </a:p>
        </p:txBody>
      </p:sp>
      <p:sp>
        <p:nvSpPr>
          <p:cNvPr id="96" name="Shape 94"/>
          <p:cNvSpPr/>
          <p:nvPr/>
        </p:nvSpPr>
        <p:spPr>
          <a:xfrm>
            <a:off x="8677656" y="5733288"/>
            <a:ext cx="274320" cy="274320"/>
          </a:xfrm>
          <a:prstGeom prst="diamond">
            <a:avLst/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8266176" y="60167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8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60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11402568" y="5733288"/>
            <a:ext cx="274320" cy="274320"/>
          </a:xfrm>
          <a:prstGeom prst="diamond">
            <a:avLst/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10991088" y="60167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8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90</a:t>
            </a:r>
            <a:endParaRPr lang="en-US" sz="950" dirty="0"/>
          </a:p>
        </p:txBody>
      </p:sp>
      <p:sp>
        <p:nvSpPr>
          <p:cNvPr id="100" name="Text 98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101" name="Text 99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 &amp; LEARNING PASSPORT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429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輪調與學習護照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4805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ED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部門輪調排版表 ・ 個人輪調表 ・ 學習護照與蓋章清單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503920" y="1737360"/>
            <a:ext cx="2926080" cy="292608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18320" y="2651760"/>
            <a:ext cx="1097280" cy="1097280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926080"/>
            <a:ext cx="548640" cy="5486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7F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F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CROSS-FUNCTIONAL ROTATION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業務／技術輪調排版表（第 2–4 週）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270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691640"/>
                <a:gridCol w="2048256"/>
                <a:gridCol w="2039112"/>
                <a:gridCol w="2039112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輪調站別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站別負責人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2 週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3 週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4 週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 展示中心（Demo／操作）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展示中心主管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B1 B2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B3 B4 B5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76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T3 T4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 技術服務部（保養／裝機）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技術主管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76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T1 T2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B1 B2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B3 B4 B5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 零件倉／內勤（料號／報價）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倉管／內勤主管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B3 B4 B5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76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T1 T2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B1 B2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 業務部（隨訪／客戶需求）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業務主管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76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T3 T4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76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T3 T4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76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T1 T2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5074920"/>
            <a:ext cx="502920" cy="502920"/>
          </a:xfrm>
          <a:prstGeom prst="ellipse">
            <a:avLst/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5200650"/>
            <a:ext cx="251460" cy="2514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029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 5 人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56235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分兩組（B1–B2、B3–B5），三週輪完 A、B、C 三站，理解 Demo、售後與報價流程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343400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26280" y="5074920"/>
            <a:ext cx="502920" cy="502920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010" y="5200650"/>
            <a:ext cx="251460" cy="2514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66360" y="5029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 4 人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4526280" y="56235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T1–T2 輪 B、C、D 三站；T3–T4 於業務部隨訪兩週後至展示中心，理解客戶需求與 Demo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8046720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29600" y="5074920"/>
            <a:ext cx="502920" cy="502920"/>
          </a:xfrm>
          <a:prstGeom prst="ellipse">
            <a:avLst/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5330" y="5200650"/>
            <a:ext cx="251460" cy="2514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69680" y="5029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8F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站別規則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8229600" y="56235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每站週五由站別負責人於學習護照簽章；週一 09:00 換站前先交上一站心得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21" name="Text 15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ROTATION ROSTER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個人輪調排版表（9 人 × 12 週）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270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19120"/>
                <a:gridCol w="819120"/>
                <a:gridCol w="819120"/>
                <a:gridCol w="819120"/>
                <a:gridCol w="819120"/>
                <a:gridCol w="819120"/>
                <a:gridCol w="819120"/>
                <a:gridCol w="819120"/>
                <a:gridCol w="819120"/>
                <a:gridCol w="819120"/>
                <a:gridCol w="819120"/>
                <a:gridCol w="819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B1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公司認識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展示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零件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市場分析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提案報價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8F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原廠課程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8F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B2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公司認識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展示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零件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市場分析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提案報價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8F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原廠課程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8F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B3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公司認識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零件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展示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市場分析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提案報價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8F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原廠課程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8F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B4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公司認識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零件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展示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市場分析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提案報價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8F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原廠課程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8F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公司認識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零件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展示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市場分析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提案報價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8F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原廠課程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8F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T1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公司認識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零件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業務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控制器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安裝調校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8F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原廠課程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故障排除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8F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T2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公司認識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零件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業務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控制器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安裝調校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8F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原廠課程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故障排除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8F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T3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公司認識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業務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業務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展示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控制器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安裝調校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8F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原廠課程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故障排除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8F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T4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公司認識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業務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業務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展示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控制器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安裝調校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8F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原廠課程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故障排除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8F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E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760720"/>
            <a:ext cx="320040" cy="256032"/>
          </a:xfrm>
          <a:prstGeom prst="roundRect">
            <a:avLst>
              <a:gd name="adj" fmla="val 17857"/>
            </a:avLst>
          </a:prstGeom>
          <a:solidFill>
            <a:srgbClr val="F4F6F9"/>
          </a:solidFill>
          <a:ln w="12700">
            <a:solidFill>
              <a:srgbClr val="E1E6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570585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共同課程／輪調站別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383280" y="5760720"/>
            <a:ext cx="320040" cy="256032"/>
          </a:xfrm>
          <a:prstGeom prst="roundRect">
            <a:avLst>
              <a:gd name="adj" fmla="val 17857"/>
            </a:avLst>
          </a:prstGeom>
          <a:solidFill>
            <a:srgbClr val="E7EFF8"/>
          </a:solidFill>
          <a:ln w="12700">
            <a:solidFill>
              <a:srgbClr val="E1E6E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794760" y="570585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業務組專業課程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26480" y="5760720"/>
            <a:ext cx="320040" cy="256032"/>
          </a:xfrm>
          <a:prstGeom prst="roundRect">
            <a:avLst>
              <a:gd name="adj" fmla="val 17857"/>
            </a:avLst>
          </a:prstGeom>
          <a:solidFill>
            <a:srgbClr val="FDEEE3"/>
          </a:solidFill>
          <a:ln w="12700">
            <a:solidFill>
              <a:srgbClr val="E1E6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37960" y="570585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技術組專業課程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869680" y="5760720"/>
            <a:ext cx="320040" cy="256032"/>
          </a:xfrm>
          <a:prstGeom prst="roundRect">
            <a:avLst>
              <a:gd name="adj" fmla="val 17857"/>
            </a:avLst>
          </a:prstGeom>
          <a:solidFill>
            <a:srgbClr val="E6F3EC"/>
          </a:solidFill>
          <a:ln w="12700">
            <a:solidFill>
              <a:srgbClr val="E1E6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281160" y="570585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8F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共同活動（原廠課程、結訓）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PASSPORT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學習護照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3749040" cy="4389120"/>
          </a:xfrm>
          <a:prstGeom prst="roundRect">
            <a:avLst>
              <a:gd name="adj" fmla="val 5366"/>
            </a:avLst>
          </a:prstGeom>
          <a:solidFill>
            <a:srgbClr val="2E5C8A"/>
          </a:solidFill>
          <a:ln w="12700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1920240"/>
            <a:ext cx="3291840" cy="3931920"/>
          </a:xfrm>
          <a:prstGeom prst="roundRect">
            <a:avLst>
              <a:gd name="adj" fmla="val 4444"/>
            </a:avLst>
          </a:prstGeom>
          <a:solidFill>
            <a:srgbClr val="2E5C8A"/>
          </a:solidFill>
          <a:ln w="9525">
            <a:solidFill>
              <a:srgbClr val="FFFFFF">
                <a:alpha val="40000"/>
              </a:srgbClr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1280160" y="21488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</a:t>
            </a:r>
            <a:endParaRPr lang="en-US" sz="2200" dirty="0"/>
          </a:p>
          <a:p>
            <a:pPr indent="0" marL="0">
              <a:buNone/>
            </a:pPr>
            <a:r>
              <a:rPr lang="en-US" sz="2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PASSPORT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200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新人學習護照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79476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CE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姓名：________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CE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組別：業務 ／ 技術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CE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導師：________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CE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報到日：____ / __ / __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4983480"/>
            <a:ext cx="868680" cy="868680"/>
          </a:xfrm>
          <a:prstGeom prst="ellipse">
            <a:avLst/>
          </a:prstGeom>
          <a:solidFill>
            <a:srgbClr val="E876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91840" y="4983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03520" y="1737360"/>
            <a:ext cx="502920" cy="502920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250" y="1863090"/>
            <a:ext cx="251460" cy="2514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989320" y="169164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護照結構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989320" y="210312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3CED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基本資料　② 共同課程頁　③ 輪調站別頁　④ 專業課程頁　⑤ 里程碑考核頁　⑥ 導師／主管評語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303520" y="2834640"/>
            <a:ext cx="502920" cy="502920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0" y="2960370"/>
            <a:ext cx="251460" cy="25146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989320" y="278892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蓋章機制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5989320" y="320040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3CED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完成一項學習任務，由授課者、站別負責人或導師簽章；缺章項目列入週會追蹤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303520" y="3931920"/>
            <a:ext cx="502920" cy="502920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250" y="4057650"/>
            <a:ext cx="251460" cy="2514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989320" y="38862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每週回顧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989320" y="429768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3CED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每週五 16:30 導師檢視護照，確認本週進度並簽署；心得未填寫不予簽章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5303520" y="5029200"/>
            <a:ext cx="502920" cy="502920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9250" y="5154930"/>
            <a:ext cx="251460" cy="25146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989320" y="49834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結訓條件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5989320" y="539496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3CED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90 前集滿必修章（業務 24 章／技術 24 章）＋ 三次里程碑考核合格 ＝ 結訓通過</a:t>
            </a:r>
            <a:endParaRPr lang="en-US" sz="1150" dirty="0"/>
          </a:p>
        </p:txBody>
      </p:sp>
      <p:sp>
        <p:nvSpPr>
          <p:cNvPr id="27" name="Text 21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7F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28" name="Text 22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F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TRACK · PASSPORT STAMPS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學習護照 ・ 業務組蓋章清單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378440" y="502920"/>
            <a:ext cx="685800" cy="685800"/>
          </a:xfrm>
          <a:prstGeom prst="ellipse">
            <a:avLst/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9890" y="67437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5029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24 必修章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3520440" cy="47091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0080" y="1508760"/>
            <a:ext cx="3520440" cy="777240"/>
          </a:xfrm>
          <a:prstGeom prst="roundRect">
            <a:avLst>
              <a:gd name="adj" fmla="val 16471"/>
            </a:avLst>
          </a:prstGeom>
          <a:solidFill>
            <a:srgbClr val="E7EFF8"/>
          </a:solidFill>
          <a:ln w="12700">
            <a:solidFill>
              <a:srgbClr val="E7EF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2011680"/>
            <a:ext cx="3520440" cy="274320"/>
          </a:xfrm>
          <a:prstGeom prst="rect">
            <a:avLst/>
          </a:prstGeom>
          <a:solidFill>
            <a:srgbClr val="E7EFF8"/>
          </a:solidFill>
          <a:ln w="12700">
            <a:solidFill>
              <a:srgbClr val="E7EF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  認識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19202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 ・ 簽章：人資／導師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68680" y="24963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868680" y="2496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325880" y="24505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報到與制度說明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人資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68680" y="29535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868680" y="2953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325880" y="29077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職場安全與 5S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廠務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6868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86868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325880" y="3364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Brother 型錄研讀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68680" y="38679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868680" y="3867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8221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Okuma 型錄研讀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68680" y="43251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25" name="Text 22"/>
          <p:cNvSpPr txBox="1"/>
          <p:nvPr/>
        </p:nvSpPr>
        <p:spPr>
          <a:xfrm>
            <a:off x="868680" y="43251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325880" y="42793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射出機型錄研讀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868680" y="47823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868680" y="4782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325880" y="47365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產業應用案例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業務主管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68680" y="52395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31" name="Text 28"/>
          <p:cNvSpPr txBox="1"/>
          <p:nvPr/>
        </p:nvSpPr>
        <p:spPr>
          <a:xfrm>
            <a:off x="868680" y="5239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51937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競品分析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業務主管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868680" y="5696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868680" y="5696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650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週測驗合格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4343400" y="1508760"/>
            <a:ext cx="3520440" cy="47091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343400" y="1508760"/>
            <a:ext cx="3520440" cy="777240"/>
          </a:xfrm>
          <a:prstGeom prst="roundRect">
            <a:avLst>
              <a:gd name="adj" fmla="val 16471"/>
            </a:avLst>
          </a:prstGeom>
          <a:solidFill>
            <a:srgbClr val="E7EFF8"/>
          </a:solidFill>
          <a:ln w="12700">
            <a:solidFill>
              <a:srgbClr val="E7EFF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343400" y="2011680"/>
            <a:ext cx="3520440" cy="274320"/>
          </a:xfrm>
          <a:prstGeom prst="rect">
            <a:avLst/>
          </a:prstGeom>
          <a:solidFill>
            <a:srgbClr val="E7EFF8"/>
          </a:solidFill>
          <a:ln w="12700">
            <a:solidFill>
              <a:srgbClr val="E7EF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57200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第二階段  基礎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0" y="19202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2–5 週 ・ 簽章：站別負責人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4572000" y="24963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42" name="Text 39"/>
          <p:cNvSpPr txBox="1"/>
          <p:nvPr/>
        </p:nvSpPr>
        <p:spPr>
          <a:xfrm>
            <a:off x="4572000" y="2496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5029200" y="24505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展示中心 Demo 觀摩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展示中心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4572000" y="29535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45" name="Text 42"/>
          <p:cNvSpPr txBox="1"/>
          <p:nvPr/>
        </p:nvSpPr>
        <p:spPr>
          <a:xfrm>
            <a:off x="4572000" y="2953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5029200" y="29077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技術服務保養隨行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技術主管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57200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48" name="Text 45"/>
          <p:cNvSpPr txBox="1"/>
          <p:nvPr/>
        </p:nvSpPr>
        <p:spPr>
          <a:xfrm>
            <a:off x="457200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5029200" y="3364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報價單製作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內勤主管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4572000" y="38679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51" name="Text 48"/>
          <p:cNvSpPr txBox="1"/>
          <p:nvPr/>
        </p:nvSpPr>
        <p:spPr>
          <a:xfrm>
            <a:off x="4572000" y="3867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5029200" y="38221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訂單與交期流程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內勤主管</a:t>
            </a:r>
            <a:endParaRPr lang="en-US" sz="1050" dirty="0"/>
          </a:p>
        </p:txBody>
      </p:sp>
      <p:sp>
        <p:nvSpPr>
          <p:cNvPr id="53" name="Shape 50"/>
          <p:cNvSpPr/>
          <p:nvPr/>
        </p:nvSpPr>
        <p:spPr>
          <a:xfrm>
            <a:off x="4572000" y="43251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54" name="Text 51"/>
          <p:cNvSpPr txBox="1"/>
          <p:nvPr/>
        </p:nvSpPr>
        <p:spPr>
          <a:xfrm>
            <a:off x="4572000" y="43251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55" name="Text 52"/>
          <p:cNvSpPr txBox="1"/>
          <p:nvPr/>
        </p:nvSpPr>
        <p:spPr>
          <a:xfrm>
            <a:off x="5029200" y="42793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CRM 系統操作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業務主管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4572000" y="47823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57" name="Text 54"/>
          <p:cNvSpPr txBox="1"/>
          <p:nvPr/>
        </p:nvSpPr>
        <p:spPr>
          <a:xfrm>
            <a:off x="4572000" y="4782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5029200" y="47365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客戶名單分析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業務主管</a:t>
            </a:r>
            <a:endParaRPr lang="en-US" sz="1050" dirty="0"/>
          </a:p>
        </p:txBody>
      </p:sp>
      <p:sp>
        <p:nvSpPr>
          <p:cNvPr id="59" name="Shape 56"/>
          <p:cNvSpPr/>
          <p:nvPr/>
        </p:nvSpPr>
        <p:spPr>
          <a:xfrm>
            <a:off x="4572000" y="52395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60" name="Text 57"/>
          <p:cNvSpPr txBox="1"/>
          <p:nvPr/>
        </p:nvSpPr>
        <p:spPr>
          <a:xfrm>
            <a:off x="4572000" y="5239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1" name="Text 58"/>
          <p:cNvSpPr txBox="1"/>
          <p:nvPr/>
        </p:nvSpPr>
        <p:spPr>
          <a:xfrm>
            <a:off x="5029200" y="51937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產品知識筆試 Day 30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訓練負責人</a:t>
            </a:r>
            <a:endParaRPr lang="en-US" sz="1050" dirty="0"/>
          </a:p>
        </p:txBody>
      </p:sp>
      <p:sp>
        <p:nvSpPr>
          <p:cNvPr id="62" name="Shape 59"/>
          <p:cNvSpPr/>
          <p:nvPr/>
        </p:nvSpPr>
        <p:spPr>
          <a:xfrm>
            <a:off x="4572000" y="5696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63" name="Text 60"/>
          <p:cNvSpPr txBox="1"/>
          <p:nvPr/>
        </p:nvSpPr>
        <p:spPr>
          <a:xfrm>
            <a:off x="4572000" y="5696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64" name="Text 61"/>
          <p:cNvSpPr txBox="1"/>
          <p:nvPr/>
        </p:nvSpPr>
        <p:spPr>
          <a:xfrm>
            <a:off x="5029200" y="5650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輪調心得報告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050" dirty="0"/>
          </a:p>
        </p:txBody>
      </p:sp>
      <p:sp>
        <p:nvSpPr>
          <p:cNvPr id="65" name="Shape 62"/>
          <p:cNvSpPr/>
          <p:nvPr/>
        </p:nvSpPr>
        <p:spPr>
          <a:xfrm>
            <a:off x="8046720" y="1508760"/>
            <a:ext cx="3520440" cy="47091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8046720" y="1508760"/>
            <a:ext cx="3520440" cy="777240"/>
          </a:xfrm>
          <a:prstGeom prst="roundRect">
            <a:avLst>
              <a:gd name="adj" fmla="val 16471"/>
            </a:avLst>
          </a:prstGeom>
          <a:solidFill>
            <a:srgbClr val="E7EFF8"/>
          </a:solidFill>
          <a:ln w="12700">
            <a:solidFill>
              <a:srgbClr val="E7EFF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8046720" y="2011680"/>
            <a:ext cx="3520440" cy="274320"/>
          </a:xfrm>
          <a:prstGeom prst="rect">
            <a:avLst/>
          </a:prstGeom>
          <a:solidFill>
            <a:srgbClr val="E7EFF8"/>
          </a:solidFill>
          <a:ln w="12700">
            <a:solidFill>
              <a:srgbClr val="E7EFF8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7532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第三階段  實戰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8275320" y="19202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6–12 週 ・ 簽章：導師／主管</a:t>
            </a:r>
            <a:endParaRPr lang="en-US" sz="950" dirty="0"/>
          </a:p>
        </p:txBody>
      </p:sp>
      <p:sp>
        <p:nvSpPr>
          <p:cNvPr id="70" name="Shape 67"/>
          <p:cNvSpPr/>
          <p:nvPr/>
        </p:nvSpPr>
        <p:spPr>
          <a:xfrm>
            <a:off x="8275320" y="24963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71" name="Text 68"/>
          <p:cNvSpPr txBox="1"/>
          <p:nvPr/>
        </p:nvSpPr>
        <p:spPr>
          <a:xfrm>
            <a:off x="8275320" y="2496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72" name="Text 69"/>
          <p:cNvSpPr txBox="1"/>
          <p:nvPr/>
        </p:nvSpPr>
        <p:spPr>
          <a:xfrm>
            <a:off x="8732520" y="24505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模擬提案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業務主管</a:t>
            </a:r>
            <a:endParaRPr lang="en-US" sz="1050" dirty="0"/>
          </a:p>
        </p:txBody>
      </p:sp>
      <p:sp>
        <p:nvSpPr>
          <p:cNvPr id="73" name="Shape 70"/>
          <p:cNvSpPr/>
          <p:nvPr/>
        </p:nvSpPr>
        <p:spPr>
          <a:xfrm>
            <a:off x="8275320" y="29535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74" name="Text 71"/>
          <p:cNvSpPr txBox="1"/>
          <p:nvPr/>
        </p:nvSpPr>
        <p:spPr>
          <a:xfrm>
            <a:off x="8275320" y="2953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5" name="Text 72"/>
          <p:cNvSpPr txBox="1"/>
          <p:nvPr/>
        </p:nvSpPr>
        <p:spPr>
          <a:xfrm>
            <a:off x="8732520" y="29077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隨訪客戶 6 家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資深業務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827532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77" name="Text 74"/>
          <p:cNvSpPr txBox="1"/>
          <p:nvPr/>
        </p:nvSpPr>
        <p:spPr>
          <a:xfrm>
            <a:off x="827532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78" name="Text 75"/>
          <p:cNvSpPr txBox="1"/>
          <p:nvPr/>
        </p:nvSpPr>
        <p:spPr>
          <a:xfrm>
            <a:off x="8732520" y="3364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角色扮演考核 Day 60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訓練負責人</a:t>
            </a:r>
            <a:endParaRPr lang="en-US" sz="1050" dirty="0"/>
          </a:p>
        </p:txBody>
      </p:sp>
      <p:sp>
        <p:nvSpPr>
          <p:cNvPr id="79" name="Shape 76"/>
          <p:cNvSpPr/>
          <p:nvPr/>
        </p:nvSpPr>
        <p:spPr>
          <a:xfrm>
            <a:off x="8275320" y="38679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80" name="Text 77"/>
          <p:cNvSpPr txBox="1"/>
          <p:nvPr/>
        </p:nvSpPr>
        <p:spPr>
          <a:xfrm>
            <a:off x="8275320" y="3867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1" name="Text 78"/>
          <p:cNvSpPr txBox="1"/>
          <p:nvPr/>
        </p:nvSpPr>
        <p:spPr>
          <a:xfrm>
            <a:off x="8732520" y="38221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原廠銷售課程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原廠講師</a:t>
            </a:r>
            <a:endParaRPr lang="en-US" sz="1050" dirty="0"/>
          </a:p>
        </p:txBody>
      </p:sp>
      <p:sp>
        <p:nvSpPr>
          <p:cNvPr id="82" name="Shape 79"/>
          <p:cNvSpPr/>
          <p:nvPr/>
        </p:nvSpPr>
        <p:spPr>
          <a:xfrm>
            <a:off x="8275320" y="43251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83" name="Text 80"/>
          <p:cNvSpPr txBox="1"/>
          <p:nvPr/>
        </p:nvSpPr>
        <p:spPr>
          <a:xfrm>
            <a:off x="8275320" y="43251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84" name="Text 81"/>
          <p:cNvSpPr txBox="1"/>
          <p:nvPr/>
        </p:nvSpPr>
        <p:spPr>
          <a:xfrm>
            <a:off x="8732520" y="42793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獨立拜訪 5 家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050" dirty="0"/>
          </a:p>
        </p:txBody>
      </p:sp>
      <p:sp>
        <p:nvSpPr>
          <p:cNvPr id="85" name="Shape 82"/>
          <p:cNvSpPr/>
          <p:nvPr/>
        </p:nvSpPr>
        <p:spPr>
          <a:xfrm>
            <a:off x="8275320" y="47823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86" name="Text 83"/>
          <p:cNvSpPr txBox="1"/>
          <p:nvPr/>
        </p:nvSpPr>
        <p:spPr>
          <a:xfrm>
            <a:off x="8275320" y="4782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87" name="Text 84"/>
          <p:cNvSpPr txBox="1"/>
          <p:nvPr/>
        </p:nvSpPr>
        <p:spPr>
          <a:xfrm>
            <a:off x="8732520" y="47365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正式提案與報價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業務主管</a:t>
            </a:r>
            <a:endParaRPr lang="en-US" sz="1050" dirty="0"/>
          </a:p>
        </p:txBody>
      </p:sp>
      <p:sp>
        <p:nvSpPr>
          <p:cNvPr id="88" name="Shape 85"/>
          <p:cNvSpPr/>
          <p:nvPr/>
        </p:nvSpPr>
        <p:spPr>
          <a:xfrm>
            <a:off x="8275320" y="52395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89" name="Text 86"/>
          <p:cNvSpPr txBox="1"/>
          <p:nvPr/>
        </p:nvSpPr>
        <p:spPr>
          <a:xfrm>
            <a:off x="8275320" y="5239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90" name="Text 87"/>
          <p:cNvSpPr txBox="1"/>
          <p:nvPr/>
        </p:nvSpPr>
        <p:spPr>
          <a:xfrm>
            <a:off x="8732520" y="51937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成果發表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總經理／協理</a:t>
            </a:r>
            <a:endParaRPr lang="en-US" sz="1050" dirty="0"/>
          </a:p>
        </p:txBody>
      </p:sp>
      <p:sp>
        <p:nvSpPr>
          <p:cNvPr id="91" name="Shape 88"/>
          <p:cNvSpPr/>
          <p:nvPr/>
        </p:nvSpPr>
        <p:spPr>
          <a:xfrm>
            <a:off x="8275320" y="5696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92" name="Text 89"/>
          <p:cNvSpPr txBox="1"/>
          <p:nvPr/>
        </p:nvSpPr>
        <p:spPr>
          <a:xfrm>
            <a:off x="8275320" y="5696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93" name="Text 90"/>
          <p:cNvSpPr txBox="1"/>
          <p:nvPr/>
        </p:nvSpPr>
        <p:spPr>
          <a:xfrm>
            <a:off x="8732520" y="5650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結訓考核 Day 90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訓練負責人</a:t>
            </a:r>
            <a:endParaRPr lang="en-US" sz="1050" dirty="0"/>
          </a:p>
        </p:txBody>
      </p:sp>
      <p:sp>
        <p:nvSpPr>
          <p:cNvPr id="94" name="Text 91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95" name="Text 92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TRACK · PASSPORT STAMPS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學習護照 ・ 技術組蓋章清單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378440" y="502920"/>
            <a:ext cx="685800" cy="685800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9890" y="67437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5029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24 必修章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3520440" cy="47091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0080" y="1508760"/>
            <a:ext cx="3520440" cy="777240"/>
          </a:xfrm>
          <a:prstGeom prst="roundRect">
            <a:avLst>
              <a:gd name="adj" fmla="val 16471"/>
            </a:avLst>
          </a:prstGeom>
          <a:solidFill>
            <a:srgbClr val="FDEEE3"/>
          </a:solidFill>
          <a:ln w="12700">
            <a:solidFill>
              <a:srgbClr val="FD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2011680"/>
            <a:ext cx="3520440" cy="274320"/>
          </a:xfrm>
          <a:prstGeom prst="rect">
            <a:avLst/>
          </a:prstGeom>
          <a:solidFill>
            <a:srgbClr val="FDEEE3"/>
          </a:solidFill>
          <a:ln w="12700">
            <a:solidFill>
              <a:srgbClr val="FDEEE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  認識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19202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 ・ 簽章：人資／導師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68680" y="24963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868680" y="2496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325880" y="24505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報到與制度說明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人資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68680" y="29535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868680" y="2953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325880" y="29077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職場安全與 5S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廠務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6868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86868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325880" y="3364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Brother 型錄研讀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68680" y="38679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868680" y="3867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8221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Okuma 型錄研讀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68680" y="43251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25" name="Text 22"/>
          <p:cNvSpPr txBox="1"/>
          <p:nvPr/>
        </p:nvSpPr>
        <p:spPr>
          <a:xfrm>
            <a:off x="868680" y="43251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325880" y="42793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射出機型錄研讀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868680" y="47823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868680" y="4782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325880" y="47365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產業應用案例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技術主管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68680" y="52395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31" name="Text 28"/>
          <p:cNvSpPr txBox="1"/>
          <p:nvPr/>
        </p:nvSpPr>
        <p:spPr>
          <a:xfrm>
            <a:off x="868680" y="5239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51937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規格表解讀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技術主管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868680" y="5696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868680" y="5696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650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週測驗合格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4343400" y="1508760"/>
            <a:ext cx="3520440" cy="47091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343400" y="1508760"/>
            <a:ext cx="3520440" cy="777240"/>
          </a:xfrm>
          <a:prstGeom prst="roundRect">
            <a:avLst>
              <a:gd name="adj" fmla="val 16471"/>
            </a:avLst>
          </a:prstGeom>
          <a:solidFill>
            <a:srgbClr val="FDEEE3"/>
          </a:solidFill>
          <a:ln w="12700">
            <a:solidFill>
              <a:srgbClr val="FDEEE3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343400" y="2011680"/>
            <a:ext cx="3520440" cy="274320"/>
          </a:xfrm>
          <a:prstGeom prst="rect">
            <a:avLst/>
          </a:prstGeom>
          <a:solidFill>
            <a:srgbClr val="FDEEE3"/>
          </a:solidFill>
          <a:ln w="12700">
            <a:solidFill>
              <a:srgbClr val="FDEEE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57200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第二階段  基礎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0" y="19202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2–5 週 ・ 簽章：站別負責人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4572000" y="24963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42" name="Text 39"/>
          <p:cNvSpPr txBox="1"/>
          <p:nvPr/>
        </p:nvSpPr>
        <p:spPr>
          <a:xfrm>
            <a:off x="4572000" y="2496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5029200" y="24505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服務單流程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技術主管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4572000" y="29535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45" name="Text 42"/>
          <p:cNvSpPr txBox="1"/>
          <p:nvPr/>
        </p:nvSpPr>
        <p:spPr>
          <a:xfrm>
            <a:off x="4572000" y="2953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5029200" y="29077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工具與儀器使用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資深技師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57200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48" name="Text 45"/>
          <p:cNvSpPr txBox="1"/>
          <p:nvPr/>
        </p:nvSpPr>
        <p:spPr>
          <a:xfrm>
            <a:off x="457200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5029200" y="3364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料號查詢與備品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倉管主管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4572000" y="38679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51" name="Text 48"/>
          <p:cNvSpPr txBox="1"/>
          <p:nvPr/>
        </p:nvSpPr>
        <p:spPr>
          <a:xfrm>
            <a:off x="4572000" y="3867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5029200" y="38221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機準備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展示中心</a:t>
            </a:r>
            <a:endParaRPr lang="en-US" sz="1050" dirty="0"/>
          </a:p>
        </p:txBody>
      </p:sp>
      <p:sp>
        <p:nvSpPr>
          <p:cNvPr id="53" name="Shape 50"/>
          <p:cNvSpPr/>
          <p:nvPr/>
        </p:nvSpPr>
        <p:spPr>
          <a:xfrm>
            <a:off x="4572000" y="43251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54" name="Text 51"/>
          <p:cNvSpPr txBox="1"/>
          <p:nvPr/>
        </p:nvSpPr>
        <p:spPr>
          <a:xfrm>
            <a:off x="4572000" y="43251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55" name="Text 52"/>
          <p:cNvSpPr txBox="1"/>
          <p:nvPr/>
        </p:nvSpPr>
        <p:spPr>
          <a:xfrm>
            <a:off x="5029200" y="42793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Brother 控制器操作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資深技師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4572000" y="47823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57" name="Text 54"/>
          <p:cNvSpPr txBox="1"/>
          <p:nvPr/>
        </p:nvSpPr>
        <p:spPr>
          <a:xfrm>
            <a:off x="4572000" y="4782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5029200" y="47365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Okuma OSP 操作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資深技師</a:t>
            </a:r>
            <a:endParaRPr lang="en-US" sz="1050" dirty="0"/>
          </a:p>
        </p:txBody>
      </p:sp>
      <p:sp>
        <p:nvSpPr>
          <p:cNvPr id="59" name="Shape 56"/>
          <p:cNvSpPr/>
          <p:nvPr/>
        </p:nvSpPr>
        <p:spPr>
          <a:xfrm>
            <a:off x="4572000" y="52395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60" name="Text 57"/>
          <p:cNvSpPr txBox="1"/>
          <p:nvPr/>
        </p:nvSpPr>
        <p:spPr>
          <a:xfrm>
            <a:off x="4572000" y="5239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1" name="Text 58"/>
          <p:cNvSpPr txBox="1"/>
          <p:nvPr/>
        </p:nvSpPr>
        <p:spPr>
          <a:xfrm>
            <a:off x="5029200" y="51937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產品知識筆試 Day 30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訓練負責人</a:t>
            </a:r>
            <a:endParaRPr lang="en-US" sz="1050" dirty="0"/>
          </a:p>
        </p:txBody>
      </p:sp>
      <p:sp>
        <p:nvSpPr>
          <p:cNvPr id="62" name="Shape 59"/>
          <p:cNvSpPr/>
          <p:nvPr/>
        </p:nvSpPr>
        <p:spPr>
          <a:xfrm>
            <a:off x="4572000" y="5696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63" name="Text 60"/>
          <p:cNvSpPr txBox="1"/>
          <p:nvPr/>
        </p:nvSpPr>
        <p:spPr>
          <a:xfrm>
            <a:off x="4572000" y="5696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64" name="Text 61"/>
          <p:cNvSpPr txBox="1"/>
          <p:nvPr/>
        </p:nvSpPr>
        <p:spPr>
          <a:xfrm>
            <a:off x="5029200" y="5650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輪調心得報告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050" dirty="0"/>
          </a:p>
        </p:txBody>
      </p:sp>
      <p:sp>
        <p:nvSpPr>
          <p:cNvPr id="65" name="Shape 62"/>
          <p:cNvSpPr/>
          <p:nvPr/>
        </p:nvSpPr>
        <p:spPr>
          <a:xfrm>
            <a:off x="8046720" y="1508760"/>
            <a:ext cx="3520440" cy="47091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8046720" y="1508760"/>
            <a:ext cx="3520440" cy="777240"/>
          </a:xfrm>
          <a:prstGeom prst="roundRect">
            <a:avLst>
              <a:gd name="adj" fmla="val 16471"/>
            </a:avLst>
          </a:prstGeom>
          <a:solidFill>
            <a:srgbClr val="FDEEE3"/>
          </a:solidFill>
          <a:ln w="12700">
            <a:solidFill>
              <a:srgbClr val="FDEEE3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8046720" y="2011680"/>
            <a:ext cx="3520440" cy="274320"/>
          </a:xfrm>
          <a:prstGeom prst="rect">
            <a:avLst/>
          </a:prstGeom>
          <a:solidFill>
            <a:srgbClr val="FDEEE3"/>
          </a:solidFill>
          <a:ln w="12700">
            <a:solidFill>
              <a:srgbClr val="FDEEE3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7532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第三階段  實戰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8275320" y="19202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6–12 週 ・ 簽章：導師／主管</a:t>
            </a:r>
            <a:endParaRPr lang="en-US" sz="950" dirty="0"/>
          </a:p>
        </p:txBody>
      </p:sp>
      <p:sp>
        <p:nvSpPr>
          <p:cNvPr id="70" name="Shape 67"/>
          <p:cNvSpPr/>
          <p:nvPr/>
        </p:nvSpPr>
        <p:spPr>
          <a:xfrm>
            <a:off x="8275320" y="24963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71" name="Text 68"/>
          <p:cNvSpPr txBox="1"/>
          <p:nvPr/>
        </p:nvSpPr>
        <p:spPr>
          <a:xfrm>
            <a:off x="8275320" y="2496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72" name="Text 69"/>
          <p:cNvSpPr txBox="1"/>
          <p:nvPr/>
        </p:nvSpPr>
        <p:spPr>
          <a:xfrm>
            <a:off x="8732520" y="24505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隨師裝機 1 台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資深技師</a:t>
            </a:r>
            <a:endParaRPr lang="en-US" sz="1050" dirty="0"/>
          </a:p>
        </p:txBody>
      </p:sp>
      <p:sp>
        <p:nvSpPr>
          <p:cNvPr id="73" name="Shape 70"/>
          <p:cNvSpPr/>
          <p:nvPr/>
        </p:nvSpPr>
        <p:spPr>
          <a:xfrm>
            <a:off x="8275320" y="29535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74" name="Text 71"/>
          <p:cNvSpPr txBox="1"/>
          <p:nvPr/>
        </p:nvSpPr>
        <p:spPr>
          <a:xfrm>
            <a:off x="8275320" y="2953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5" name="Text 72"/>
          <p:cNvSpPr txBox="1"/>
          <p:nvPr/>
        </p:nvSpPr>
        <p:spPr>
          <a:xfrm>
            <a:off x="8732520" y="29077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定期保養實作 3 台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資深技師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827532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77" name="Text 74"/>
          <p:cNvSpPr txBox="1"/>
          <p:nvPr/>
        </p:nvSpPr>
        <p:spPr>
          <a:xfrm>
            <a:off x="827532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78" name="Text 75"/>
          <p:cNvSpPr txBox="1"/>
          <p:nvPr/>
        </p:nvSpPr>
        <p:spPr>
          <a:xfrm>
            <a:off x="8732520" y="3364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射出機保養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資深技師</a:t>
            </a:r>
            <a:endParaRPr lang="en-US" sz="1050" dirty="0"/>
          </a:p>
        </p:txBody>
      </p:sp>
      <p:sp>
        <p:nvSpPr>
          <p:cNvPr id="79" name="Shape 76"/>
          <p:cNvSpPr/>
          <p:nvPr/>
        </p:nvSpPr>
        <p:spPr>
          <a:xfrm>
            <a:off x="8275320" y="38679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80" name="Text 77"/>
          <p:cNvSpPr txBox="1"/>
          <p:nvPr/>
        </p:nvSpPr>
        <p:spPr>
          <a:xfrm>
            <a:off x="8275320" y="3867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1" name="Text 78"/>
          <p:cNvSpPr txBox="1"/>
          <p:nvPr/>
        </p:nvSpPr>
        <p:spPr>
          <a:xfrm>
            <a:off x="8732520" y="38221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實作考核 Day 60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訓練負責人</a:t>
            </a:r>
            <a:endParaRPr lang="en-US" sz="1050" dirty="0"/>
          </a:p>
        </p:txBody>
      </p:sp>
      <p:sp>
        <p:nvSpPr>
          <p:cNvPr id="82" name="Shape 79"/>
          <p:cNvSpPr/>
          <p:nvPr/>
        </p:nvSpPr>
        <p:spPr>
          <a:xfrm>
            <a:off x="8275320" y="43251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83" name="Text 80"/>
          <p:cNvSpPr txBox="1"/>
          <p:nvPr/>
        </p:nvSpPr>
        <p:spPr>
          <a:xfrm>
            <a:off x="8275320" y="43251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84" name="Text 81"/>
          <p:cNvSpPr txBox="1"/>
          <p:nvPr/>
        </p:nvSpPr>
        <p:spPr>
          <a:xfrm>
            <a:off x="8732520" y="42793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原廠技術課程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原廠講師</a:t>
            </a:r>
            <a:endParaRPr lang="en-US" sz="1050" dirty="0"/>
          </a:p>
        </p:txBody>
      </p:sp>
      <p:sp>
        <p:nvSpPr>
          <p:cNvPr id="85" name="Shape 82"/>
          <p:cNvSpPr/>
          <p:nvPr/>
        </p:nvSpPr>
        <p:spPr>
          <a:xfrm>
            <a:off x="8275320" y="47823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86" name="Text 83"/>
          <p:cNvSpPr txBox="1"/>
          <p:nvPr/>
        </p:nvSpPr>
        <p:spPr>
          <a:xfrm>
            <a:off x="8275320" y="4782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87" name="Text 84"/>
          <p:cNvSpPr txBox="1"/>
          <p:nvPr/>
        </p:nvSpPr>
        <p:spPr>
          <a:xfrm>
            <a:off x="8732520" y="47365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故障案例報告 3 件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技術主管</a:t>
            </a:r>
            <a:endParaRPr lang="en-US" sz="1050" dirty="0"/>
          </a:p>
        </p:txBody>
      </p:sp>
      <p:sp>
        <p:nvSpPr>
          <p:cNvPr id="88" name="Shape 85"/>
          <p:cNvSpPr/>
          <p:nvPr/>
        </p:nvSpPr>
        <p:spPr>
          <a:xfrm>
            <a:off x="8275320" y="52395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89" name="Text 86"/>
          <p:cNvSpPr txBox="1"/>
          <p:nvPr/>
        </p:nvSpPr>
        <p:spPr>
          <a:xfrm>
            <a:off x="8275320" y="5239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90" name="Text 87"/>
          <p:cNvSpPr txBox="1"/>
          <p:nvPr/>
        </p:nvSpPr>
        <p:spPr>
          <a:xfrm>
            <a:off x="8732520" y="51937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獨立服務案件 3 件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技術主管</a:t>
            </a:r>
            <a:endParaRPr lang="en-US" sz="1050" dirty="0"/>
          </a:p>
        </p:txBody>
      </p:sp>
      <p:sp>
        <p:nvSpPr>
          <p:cNvPr id="91" name="Shape 88"/>
          <p:cNvSpPr/>
          <p:nvPr/>
        </p:nvSpPr>
        <p:spPr>
          <a:xfrm>
            <a:off x="8275320" y="5696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92" name="Text 89"/>
          <p:cNvSpPr txBox="1"/>
          <p:nvPr/>
        </p:nvSpPr>
        <p:spPr>
          <a:xfrm>
            <a:off x="8275320" y="5696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93" name="Text 90"/>
          <p:cNvSpPr txBox="1"/>
          <p:nvPr/>
        </p:nvSpPr>
        <p:spPr>
          <a:xfrm>
            <a:off x="8732520" y="5650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結訓考核 Day 90</a:t>
            </a:r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訓練負責人</a:t>
            </a:r>
            <a:endParaRPr lang="en-US" sz="1050" dirty="0"/>
          </a:p>
        </p:txBody>
      </p:sp>
      <p:sp>
        <p:nvSpPr>
          <p:cNvPr id="94" name="Text 91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95" name="Text 92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&amp; EXECUTION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429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考核與執行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4805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ED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里程碑考核 ・ 轉正權重 ・ 導師制度與每週節奏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503920" y="1737360"/>
            <a:ext cx="2926080" cy="292608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18320" y="2651760"/>
            <a:ext cx="1097280" cy="1097280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926080"/>
            <a:ext cx="548640" cy="5486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7F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F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ASSESSMENT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里程碑考核與評分標準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52044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337560" y="1783080"/>
            <a:ext cx="566928" cy="566928"/>
          </a:xfrm>
          <a:prstGeom prst="ellipse">
            <a:avLst/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9292" y="19248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1691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30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331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產品知識筆試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72491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三大產品線規格、型號、應用；70 分合格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3649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筆試 100%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43400" y="1554480"/>
            <a:ext cx="352044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040880" y="1783080"/>
            <a:ext cx="566928" cy="566928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612" y="192481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617720" y="1691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60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4617720" y="2331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實作演練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72491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業務：客戶角色扮演提案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技術：現場保養實作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33649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導師評分 60% ＋ 主管 40%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046720" y="1554480"/>
            <a:ext cx="352044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10744200" y="1783080"/>
            <a:ext cx="566928" cy="566928"/>
          </a:xfrm>
          <a:prstGeom prst="ellipse">
            <a:avLst/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5932" y="1924812"/>
            <a:ext cx="283464" cy="28346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21040" y="1691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8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90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2331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結訓發表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272491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業務：成果簡報＋商機盤點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技術：案例分享＋實機考核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8321040" y="33649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8F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評審團評分 ＋ 護照集章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64008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PROBATION SCORE WEIGHTING</a:t>
            </a:r>
            <a:endParaRPr lang="en-US" sz="900" dirty="0"/>
          </a:p>
        </p:txBody>
      </p:sp>
      <p:sp>
        <p:nvSpPr>
          <p:cNvPr id="26" name="Text 21"/>
          <p:cNvSpPr txBox="1"/>
          <p:nvPr/>
        </p:nvSpPr>
        <p:spPr>
          <a:xfrm>
            <a:off x="640080" y="4434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轉正評核權重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640080" y="4937760"/>
            <a:ext cx="2676906" cy="502920"/>
          </a:xfrm>
          <a:prstGeom prst="roundRect">
            <a:avLst>
              <a:gd name="adj" fmla="val 10909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40080" y="4937760"/>
            <a:ext cx="26769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300" dirty="0"/>
          </a:p>
        </p:txBody>
      </p:sp>
      <p:sp>
        <p:nvSpPr>
          <p:cNvPr id="29" name="Text 24"/>
          <p:cNvSpPr txBox="1"/>
          <p:nvPr/>
        </p:nvSpPr>
        <p:spPr>
          <a:xfrm>
            <a:off x="640080" y="5486400"/>
            <a:ext cx="26769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護照集章 24/24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3371850" y="4937760"/>
            <a:ext cx="1584198" cy="502920"/>
          </a:xfrm>
          <a:prstGeom prst="roundRect">
            <a:avLst>
              <a:gd name="adj" fmla="val 10909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371850" y="4937760"/>
            <a:ext cx="15841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3371850" y="5486400"/>
            <a:ext cx="15841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30 筆試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5010912" y="4937760"/>
            <a:ext cx="2676906" cy="502920"/>
          </a:xfrm>
          <a:prstGeom prst="roundRect">
            <a:avLst>
              <a:gd name="adj" fmla="val 10909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5010912" y="4937760"/>
            <a:ext cx="26769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300" dirty="0"/>
          </a:p>
        </p:txBody>
      </p:sp>
      <p:sp>
        <p:nvSpPr>
          <p:cNvPr id="35" name="Text 30"/>
          <p:cNvSpPr txBox="1"/>
          <p:nvPr/>
        </p:nvSpPr>
        <p:spPr>
          <a:xfrm>
            <a:off x="5010912" y="5486400"/>
            <a:ext cx="26769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60 實作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7742682" y="4937760"/>
            <a:ext cx="2676906" cy="502920"/>
          </a:xfrm>
          <a:prstGeom prst="roundRect">
            <a:avLst>
              <a:gd name="adj" fmla="val 10909"/>
            </a:avLst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7742682" y="4937760"/>
            <a:ext cx="26769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300" dirty="0"/>
          </a:p>
        </p:txBody>
      </p:sp>
      <p:sp>
        <p:nvSpPr>
          <p:cNvPr id="38" name="Text 33"/>
          <p:cNvSpPr txBox="1"/>
          <p:nvPr/>
        </p:nvSpPr>
        <p:spPr>
          <a:xfrm>
            <a:off x="7742682" y="5486400"/>
            <a:ext cx="26769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90 結訓</a:t>
            </a:r>
            <a:endParaRPr lang="en-US" sz="1000" dirty="0"/>
          </a:p>
        </p:txBody>
      </p:sp>
      <p:sp>
        <p:nvSpPr>
          <p:cNvPr id="39" name="Shape 34"/>
          <p:cNvSpPr/>
          <p:nvPr/>
        </p:nvSpPr>
        <p:spPr>
          <a:xfrm>
            <a:off x="10474452" y="4937760"/>
            <a:ext cx="1037844" cy="502920"/>
          </a:xfrm>
          <a:prstGeom prst="roundRect">
            <a:avLst>
              <a:gd name="adj" fmla="val 10909"/>
            </a:avLst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10474452" y="4937760"/>
            <a:ext cx="10378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300" dirty="0"/>
          </a:p>
        </p:txBody>
      </p:sp>
      <p:sp>
        <p:nvSpPr>
          <p:cNvPr id="41" name="Text 36"/>
          <p:cNvSpPr txBox="1"/>
          <p:nvPr/>
        </p:nvSpPr>
        <p:spPr>
          <a:xfrm>
            <a:off x="10474452" y="5486400"/>
            <a:ext cx="10378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導師與主管評語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43" name="Text 38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MENTORSHIP &amp; GOVERNANCE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導師制度與角色分工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704088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673352"/>
            <a:ext cx="512064" cy="512064"/>
          </a:xfrm>
          <a:prstGeom prst="ellipse">
            <a:avLst/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801368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5448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訓練負責人（人資）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1554480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統籌課表、安排講師、主持三次考核、彙整護照成績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40080" y="2450592"/>
            <a:ext cx="704088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2569464"/>
            <a:ext cx="512064" cy="512064"/>
          </a:xfrm>
          <a:prstGeom prst="ellipse">
            <a:avLst/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697480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08760" y="2450592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業務導師 × 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931920" y="2450592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每位帶 2–3 名業務新人，隨訪安排、每週護照檢視、Day 60 評分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40080" y="3346704"/>
            <a:ext cx="704088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465576"/>
            <a:ext cx="512064" cy="512064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3593592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3346704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技術導師 × 2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931920" y="3346704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每位帶 2 名技術新人，現場帶教、安全把關、獨立案件複核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40080" y="4242816"/>
            <a:ext cx="704088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2960" y="4361688"/>
            <a:ext cx="512064" cy="512064"/>
          </a:xfrm>
          <a:prstGeom prst="ellipse">
            <a:avLst/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489704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242816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8F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站別負責人 × 4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3931920" y="4242816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展示中心／技術服務／零件倉／業務部，負責輪調週教學與簽章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40080" y="5138928"/>
            <a:ext cx="704088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22960" y="5257800"/>
            <a:ext cx="512064" cy="512064"/>
          </a:xfrm>
          <a:prstGeom prst="ellipse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5385816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08760" y="5138928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部門主管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3931920" y="5138928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月度面談、Day 90 評審、轉正決議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7955280" y="1554480"/>
            <a:ext cx="3611880" cy="4480560"/>
          </a:xfrm>
          <a:prstGeom prst="roundRect">
            <a:avLst>
              <a:gd name="adj" fmla="val 3544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18388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RHYTHM</a:t>
            </a:r>
            <a:endParaRPr lang="en-US" sz="900" dirty="0"/>
          </a:p>
        </p:txBody>
      </p:sp>
      <p:sp>
        <p:nvSpPr>
          <p:cNvPr id="31" name="Text 24"/>
          <p:cNvSpPr txBox="1"/>
          <p:nvPr/>
        </p:nvSpPr>
        <p:spPr>
          <a:xfrm>
            <a:off x="8183880" y="1965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每週固定節奏</a:t>
            </a:r>
            <a:endParaRPr lang="en-US" sz="1600" dirty="0"/>
          </a:p>
        </p:txBody>
      </p:sp>
      <p:sp>
        <p:nvSpPr>
          <p:cNvPr id="32" name="Shape 25"/>
          <p:cNvSpPr/>
          <p:nvPr/>
        </p:nvSpPr>
        <p:spPr>
          <a:xfrm>
            <a:off x="8183880" y="2715768"/>
            <a:ext cx="128016" cy="128016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12480" y="25603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週一 09:00</a:t>
            </a:r>
            <a:endParaRPr lang="en-US" sz="1050" dirty="0"/>
          </a:p>
        </p:txBody>
      </p:sp>
      <p:sp>
        <p:nvSpPr>
          <p:cNvPr id="34" name="Text 27"/>
          <p:cNvSpPr txBox="1"/>
          <p:nvPr/>
        </p:nvSpPr>
        <p:spPr>
          <a:xfrm>
            <a:off x="9555480" y="25603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換站報到、本週目標設定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8183880" y="3374136"/>
            <a:ext cx="128016" cy="128016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8412480" y="321868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 17:00</a:t>
            </a:r>
            <a:endParaRPr lang="en-US" sz="1050" dirty="0"/>
          </a:p>
        </p:txBody>
      </p:sp>
      <p:sp>
        <p:nvSpPr>
          <p:cNvPr id="37" name="Text 30"/>
          <p:cNvSpPr txBox="1"/>
          <p:nvPr/>
        </p:nvSpPr>
        <p:spPr>
          <a:xfrm>
            <a:off x="9555480" y="32186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護照心得填寫（10 分鐘）</a:t>
            </a:r>
            <a:endParaRPr lang="en-US" sz="1050" dirty="0"/>
          </a:p>
        </p:txBody>
      </p:sp>
      <p:sp>
        <p:nvSpPr>
          <p:cNvPr id="38" name="Shape 31"/>
          <p:cNvSpPr/>
          <p:nvPr/>
        </p:nvSpPr>
        <p:spPr>
          <a:xfrm>
            <a:off x="8183880" y="4032504"/>
            <a:ext cx="128016" cy="128016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8412480" y="3877056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週三</a:t>
            </a:r>
            <a:endParaRPr lang="en-US" sz="1050" dirty="0"/>
          </a:p>
        </p:txBody>
      </p:sp>
      <p:sp>
        <p:nvSpPr>
          <p:cNvPr id="40" name="Text 33"/>
          <p:cNvSpPr txBox="1"/>
          <p:nvPr/>
        </p:nvSpPr>
        <p:spPr>
          <a:xfrm>
            <a:off x="9555480" y="387705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產品課程或原廠線上課</a:t>
            </a:r>
            <a:endParaRPr lang="en-US" sz="1050" dirty="0"/>
          </a:p>
        </p:txBody>
      </p:sp>
      <p:sp>
        <p:nvSpPr>
          <p:cNvPr id="41" name="Shape 34"/>
          <p:cNvSpPr/>
          <p:nvPr/>
        </p:nvSpPr>
        <p:spPr>
          <a:xfrm>
            <a:off x="8183880" y="4690872"/>
            <a:ext cx="128016" cy="128016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8412480" y="4535424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週五 16:30</a:t>
            </a:r>
            <a:endParaRPr lang="en-US" sz="1050" dirty="0"/>
          </a:p>
        </p:txBody>
      </p:sp>
      <p:sp>
        <p:nvSpPr>
          <p:cNvPr id="43" name="Text 36"/>
          <p:cNvSpPr txBox="1"/>
          <p:nvPr/>
        </p:nvSpPr>
        <p:spPr>
          <a:xfrm>
            <a:off x="9555480" y="45354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導師檢視護照並簽章</a:t>
            </a:r>
            <a:endParaRPr lang="en-US" sz="1050" dirty="0"/>
          </a:p>
        </p:txBody>
      </p:sp>
      <p:sp>
        <p:nvSpPr>
          <p:cNvPr id="44" name="Shape 37"/>
          <p:cNvSpPr/>
          <p:nvPr/>
        </p:nvSpPr>
        <p:spPr>
          <a:xfrm>
            <a:off x="8183880" y="5349240"/>
            <a:ext cx="128016" cy="128016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8412480" y="5193792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每月底</a:t>
            </a:r>
            <a:endParaRPr lang="en-US" sz="1050" dirty="0"/>
          </a:p>
        </p:txBody>
      </p:sp>
      <p:sp>
        <p:nvSpPr>
          <p:cNvPr id="46" name="Text 39"/>
          <p:cNvSpPr txBox="1"/>
          <p:nvPr/>
        </p:nvSpPr>
        <p:spPr>
          <a:xfrm>
            <a:off x="9555480" y="51937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主管面談、里程碑考核</a:t>
            </a:r>
            <a:endParaRPr lang="en-US" sz="1050" dirty="0"/>
          </a:p>
        </p:txBody>
      </p:sp>
      <p:sp>
        <p:nvSpPr>
          <p:cNvPr id="47" name="Text 40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48" name="Text 41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280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90 DAYS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90 天後，我們期待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2834640"/>
            <a:ext cx="5212080" cy="2103120"/>
          </a:xfrm>
          <a:prstGeom prst="roundRect">
            <a:avLst>
              <a:gd name="adj" fmla="val 695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3154680"/>
            <a:ext cx="640080" cy="640080"/>
          </a:xfrm>
          <a:prstGeom prst="ellipse">
            <a:avLst/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580" y="33147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31546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業務組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9776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位能獨立拜訪、提案報價、掌握三大產品線的業務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2834640"/>
            <a:ext cx="5212080" cy="2103120"/>
          </a:xfrm>
          <a:prstGeom prst="roundRect">
            <a:avLst>
              <a:gd name="adj" fmla="val 695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37960" y="3154680"/>
            <a:ext cx="640080" cy="640080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980" y="331470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06640" y="31546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技術組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39776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位能獨立裝機、保養、排除常見故障的技術人員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31520" y="5669280"/>
            <a:ext cx="10698480" cy="0"/>
          </a:xfrm>
          <a:prstGeom prst="line">
            <a:avLst/>
          </a:prstGeom>
          <a:noFill/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58064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附件：學習護照樣張與各週課程講義，由訓練負責人於報到日發放。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新人 90 天教育訓練計畫</dc:title>
  <dc:subject>PptxGenJS Presentation</dc:subject>
  <dc:creator>PptxGenJS</dc:creator>
  <cp:lastModifiedBy>PptxGenJS</cp:lastModifiedBy>
  <cp:revision>1</cp:revision>
  <dcterms:created xsi:type="dcterms:W3CDTF">2026-09-24T02:40:10Z</dcterms:created>
  <dcterms:modified xsi:type="dcterms:W3CDTF">2026-09-24T02:40:10Z</dcterms:modified>
</cp:coreProperties>
</file>